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Good morning/afternoon everyone. Today I am presenting 'ALVEARE: A Full-Stack Domain-Specific Framework for Regular Expressions', published in IEEE Transactions on Computer-Aided Design of Integrated Circuits and Systems (TCAD) by researchers from Politecnico di Milano. Regular expressions are fundamental across network security, cloud telemetry, and bioinformatics, but they represent a massive computational bottleneck for modern hardware. This paper proposes a full-stack hardware-software co-design to resolve the efficiency vs flexibility dilemma.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To understand ALVEARE, we first look at the landscape of regex matching. Modern applications require scanning incoming traffic at line rates (100 Gbps+) for thousands of complex patterns. Software engines running on general-purpose CPUs or GPUs suffer from branch divergence, cache thrashing, and high energy usage. Conversely, ASIC accelerators are hardwired and only support basic character matching. ALVEARE breaks this trade-off by treating regular expressions as a DSL with dedicated hardware primitives.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we highlight the 5 key research gaps identified by the authors. Existing architectures force an unacceptable compromise: either you sacrifice throughput and energy efficiency with software engines, or you sacrifice operator expressiveness with fixed hardware accelerators. Moreover, converting complex regular expressions with bounded repetitions or lookarounds into DFAs causes exponential memory explosion. ALVEARE targets this gap directly.</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core problem statement contrasts traditional workflows against ALVEARE. Traditional workflows make you choose between software flexibility or ASIC performance. ALVEARE proposes a third way: an ad-hoc compiler compiles regexes into a specialized 43-bit RISC instruction stream, while a speculative hardware engine executes instructions with dedicated hardware backtracking. This shifts structural complexity to software and keeps the hardware tiny and scalable.</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Here are the six pillars of the methodology. First, the authors performed a quantitative analysis across 6 benchmark suites from ANMLZoo to determine which operators are actually used in practice. Second, they defined a 43-bit RISC ISA divided into Control, Base, and Complex operations. Third, they designed a speculative microarchitecture with an on-chip Speculation Stack for zero-latency rollback. Fourth, they built 3 decode units coupled with Vector Compute Units. Fifth, they wrote an ad-hoc C compiler that operates in linear time O(N). Finally, they prototyped everything on an FPGA running at 300 MHz across 1 to 10 cores.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defines the three inputs entering the ALVEARE framework: Input A is the regular expression ruleset containing complex features like character classes and quantifiers. Input B is the target data stream—in this paper, 1 MB files chunked into 16 KB blocks. Input C represents architectural configuration, including core count (1 to 10 cores) and speculation stack depth. The concrete example at the bottom demonstrates an API routing regex pattern being scanned across network payload packets.</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output of ALVEARE is far richer than just a boolean match flag. It provides compact 43-bit binary code generated in linear time, exact byte offset coordinates for matched strings, up to 34x speedup over ARM and DPU processors, up to 57x higher energy efficiency, and full multi-core performance telemetry. This provides both high-speed matching and deep diagnostic visibility.</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slide maps out the complete 8-step pipeline converting regular expressions and streaming text into match results. Steps 1 through 3 execute in the custom C compiler: parsing with FLEX/BISON, optimizing the AST, and generating 43-bit binary instructions in linear time. Steps 4 through 8 execute on the FPGA hardware: instructions and data are loaded, 3 decode units dispatch instructions to vector compute units, and the speculation stack manages rollbacks in hardware. The entire pipeline operates with zero CPU runtime overhead.</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Turning to experimental results: The authors benchmarked ALVEARE using ANMLZoo workloads (Snort, PowerEN, Protomata) following the YARB methodology. ALVEARE delivers up to 34x speedup and 17x to 57x energy efficiency gains over ARM Cortex-A53 and NVIDIA BlueField-2 DPUs. It is at least 356x faster than GPUs, which struggle catastrophically with warp serialization during backtracking. Compared to Intel Hyperscan on server Xeons, ALVEARE achieves competitive throughput while requiring far less power and compiling in linear time. The authors also candidly document architectural limitations: 4-character references, counters limited to 62, and ReDoS vulnerability.</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conclusion, ALVEARE represents a major milestone in domain-specific acceleration for regular expressions. By treating regexes as a DSL, the authors successfully combined the best of both worlds: software-like operator expressiveness with hardware-grade speed and efficiency. The one-sentence takeaway to remember is that co-designing an ISA and compiler with a speculative microarchitecture is the key to solving line-rate pattern matching bottlenecks.</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final slide provides quick Q&amp;A reference cards for the presentation Q&amp;A session. Key concepts covered include what a DSA is, why GPUs diverge on regex matching, how the speculation stack works, and why linear-time compilation prevents DFA explosion. The suggested closing remark provides an impactful concluding statement.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109728"/>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ounded Rectangle 3"/>
          <p:cNvSpPr/>
          <p:nvPr/>
        </p:nvSpPr>
        <p:spPr>
          <a:xfrm>
            <a:off x="914400" y="777240"/>
            <a:ext cx="5303520"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1051560" y="822960"/>
            <a:ext cx="5029200" cy="274320"/>
          </a:xfrm>
          <a:prstGeom prst="rect">
            <a:avLst/>
          </a:prstGeom>
          <a:noFill/>
        </p:spPr>
        <p:txBody>
          <a:bodyPr wrap="none" lIns="0" tIns="0" rIns="0" bIns="0">
            <a:spAutoFit/>
          </a:bodyPr>
          <a:lstStyle/>
          <a:p>
            <a:pPr algn="l"/>
            <a:r>
              <a:rPr sz="1000" b="1">
                <a:solidFill>
                  <a:srgbClr val="1D4ED8"/>
                </a:solidFill>
                <a:latin typeface="Segoe UI"/>
              </a:rPr>
              <a:t>RESEARCH PAPER PRESENTATION • HARDWARE/SOFTWARE CO-DESIGN</a:t>
            </a:r>
          </a:p>
        </p:txBody>
      </p:sp>
      <p:sp>
        <p:nvSpPr>
          <p:cNvPr id="6" name="TextBox 5"/>
          <p:cNvSpPr txBox="1"/>
          <p:nvPr/>
        </p:nvSpPr>
        <p:spPr>
          <a:xfrm>
            <a:off x="914400" y="1325880"/>
            <a:ext cx="10360152" cy="1280160"/>
          </a:xfrm>
          <a:prstGeom prst="rect">
            <a:avLst/>
          </a:prstGeom>
          <a:noFill/>
        </p:spPr>
        <p:txBody>
          <a:bodyPr wrap="square" lIns="0" tIns="0" rIns="0" bIns="0">
            <a:spAutoFit/>
          </a:bodyPr>
          <a:lstStyle/>
          <a:p>
            <a:pPr algn="l"/>
            <a:r>
              <a:rPr sz="3200" b="1">
                <a:solidFill>
                  <a:srgbClr val="0F172A"/>
                </a:solidFill>
                <a:latin typeface="Segoe UI"/>
              </a:rPr>
              <a:t>ALVEARE: A Full-Stack Domain-Specific
Framework for Regular Expressions</a:t>
            </a:r>
          </a:p>
        </p:txBody>
      </p:sp>
      <p:sp>
        <p:nvSpPr>
          <p:cNvPr id="7" name="TextBox 6"/>
          <p:cNvSpPr txBox="1"/>
          <p:nvPr/>
        </p:nvSpPr>
        <p:spPr>
          <a:xfrm>
            <a:off x="914400" y="2788920"/>
            <a:ext cx="10360152" cy="685800"/>
          </a:xfrm>
          <a:prstGeom prst="rect">
            <a:avLst/>
          </a:prstGeom>
          <a:noFill/>
        </p:spPr>
        <p:txBody>
          <a:bodyPr wrap="square" lIns="0" tIns="0" rIns="0" bIns="0">
            <a:spAutoFit/>
          </a:bodyPr>
          <a:lstStyle/>
          <a:p>
            <a:pPr algn="l"/>
            <a:r>
              <a:rPr sz="1500" b="0">
                <a:solidFill>
                  <a:srgbClr val="334155"/>
                </a:solidFill>
                <a:latin typeface="Segoe UI"/>
              </a:rPr>
              <a:t>Overcoming the Efficiency vs. Flexibility Trade-off in Regex Matching
with a Tailored 43-bit RISC ISA, Speculative DSA, and Optimizing Compiler</a:t>
            </a:r>
          </a:p>
        </p:txBody>
      </p:sp>
      <p:sp>
        <p:nvSpPr>
          <p:cNvPr id="8" name="Rounded Rectangle 7"/>
          <p:cNvSpPr/>
          <p:nvPr/>
        </p:nvSpPr>
        <p:spPr>
          <a:xfrm>
            <a:off x="914400" y="3703320"/>
            <a:ext cx="10360152" cy="1600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1188720" y="3886200"/>
            <a:ext cx="9784080" cy="320040"/>
          </a:xfrm>
          <a:prstGeom prst="rect">
            <a:avLst/>
          </a:prstGeom>
          <a:noFill/>
        </p:spPr>
        <p:txBody>
          <a:bodyPr wrap="none" lIns="0" tIns="0" rIns="0" bIns="0">
            <a:spAutoFit/>
          </a:bodyPr>
          <a:lstStyle/>
          <a:p>
            <a:pPr algn="l"/>
            <a:r>
              <a:rPr sz="1350" b="1">
                <a:solidFill>
                  <a:srgbClr val="0F172A"/>
                </a:solidFill>
                <a:latin typeface="Segoe UI"/>
              </a:rPr>
              <a:t>Authors: Filippo Carloni • Davide Conficconi • Emanuele Del Sozzo • Marco D. Santambrogio</a:t>
            </a:r>
          </a:p>
        </p:txBody>
      </p:sp>
      <p:sp>
        <p:nvSpPr>
          <p:cNvPr id="10" name="TextBox 9"/>
          <p:cNvSpPr txBox="1"/>
          <p:nvPr/>
        </p:nvSpPr>
        <p:spPr>
          <a:xfrm>
            <a:off x="1188720" y="4279392"/>
            <a:ext cx="9784080" cy="320040"/>
          </a:xfrm>
          <a:prstGeom prst="rect">
            <a:avLst/>
          </a:prstGeom>
          <a:noFill/>
        </p:spPr>
        <p:txBody>
          <a:bodyPr wrap="none" lIns="0" tIns="0" rIns="0" bIns="0">
            <a:spAutoFit/>
          </a:bodyPr>
          <a:lstStyle/>
          <a:p>
            <a:pPr algn="l"/>
            <a:r>
              <a:rPr sz="1150" b="0">
                <a:solidFill>
                  <a:srgbClr val="64748B"/>
                </a:solidFill>
                <a:latin typeface="Segoe UI"/>
              </a:rPr>
              <a:t>Affiliation: NECSTLab, Dipartimento di Elettronica, Informazione e Bioingegneria, Politecnico di Milano</a:t>
            </a:r>
          </a:p>
        </p:txBody>
      </p:sp>
      <p:sp>
        <p:nvSpPr>
          <p:cNvPr id="11" name="TextBox 10"/>
          <p:cNvSpPr txBox="1"/>
          <p:nvPr/>
        </p:nvSpPr>
        <p:spPr>
          <a:xfrm>
            <a:off x="1188720" y="4663440"/>
            <a:ext cx="9784080" cy="320040"/>
          </a:xfrm>
          <a:prstGeom prst="rect">
            <a:avLst/>
          </a:prstGeom>
          <a:noFill/>
        </p:spPr>
        <p:txBody>
          <a:bodyPr wrap="none" lIns="0" tIns="0" rIns="0" bIns="0">
            <a:spAutoFit/>
          </a:bodyPr>
          <a:lstStyle/>
          <a:p>
            <a:pPr algn="l"/>
            <a:r>
              <a:rPr sz="1150" b="1">
                <a:solidFill>
                  <a:srgbClr val="1D4ED8"/>
                </a:solidFill>
                <a:latin typeface="Segoe UI"/>
              </a:rPr>
              <a:t>Venue: IEEE Transactions on Computer-Aided Design of Integrated Circuits and Systems (TCAD)</a:t>
            </a:r>
          </a:p>
        </p:txBody>
      </p:sp>
      <p:sp>
        <p:nvSpPr>
          <p:cNvPr id="12" name="Rounded Rectangle 11"/>
          <p:cNvSpPr/>
          <p:nvPr/>
        </p:nvSpPr>
        <p:spPr>
          <a:xfrm>
            <a:off x="914400" y="5532120"/>
            <a:ext cx="1965960"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914400" y="5586984"/>
            <a:ext cx="1965960" cy="256032"/>
          </a:xfrm>
          <a:prstGeom prst="rect">
            <a:avLst/>
          </a:prstGeom>
          <a:noFill/>
        </p:spPr>
        <p:txBody>
          <a:bodyPr wrap="none" lIns="0" tIns="0" rIns="0" bIns="0">
            <a:spAutoFit/>
          </a:bodyPr>
          <a:lstStyle/>
          <a:p>
            <a:pPr algn="ctr"/>
            <a:r>
              <a:rPr sz="950" b="1">
                <a:solidFill>
                  <a:srgbClr val="334155"/>
                </a:solidFill>
                <a:latin typeface="Segoe UI"/>
              </a:rPr>
              <a:t>Domain-Specific Architecture</a:t>
            </a:r>
          </a:p>
        </p:txBody>
      </p:sp>
      <p:sp>
        <p:nvSpPr>
          <p:cNvPr id="14" name="Rounded Rectangle 13"/>
          <p:cNvSpPr/>
          <p:nvPr/>
        </p:nvSpPr>
        <p:spPr>
          <a:xfrm>
            <a:off x="3008376" y="5532120"/>
            <a:ext cx="1965960"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008376" y="5586984"/>
            <a:ext cx="1965960" cy="256032"/>
          </a:xfrm>
          <a:prstGeom prst="rect">
            <a:avLst/>
          </a:prstGeom>
          <a:noFill/>
        </p:spPr>
        <p:txBody>
          <a:bodyPr wrap="none" lIns="0" tIns="0" rIns="0" bIns="0">
            <a:spAutoFit/>
          </a:bodyPr>
          <a:lstStyle/>
          <a:p>
            <a:pPr algn="ctr"/>
            <a:r>
              <a:rPr sz="950" b="1">
                <a:solidFill>
                  <a:srgbClr val="334155"/>
                </a:solidFill>
                <a:latin typeface="Segoe UI"/>
              </a:rPr>
              <a:t>Custom 43-bit RISC ISA</a:t>
            </a:r>
          </a:p>
        </p:txBody>
      </p:sp>
      <p:sp>
        <p:nvSpPr>
          <p:cNvPr id="16" name="Rounded Rectangle 15"/>
          <p:cNvSpPr/>
          <p:nvPr/>
        </p:nvSpPr>
        <p:spPr>
          <a:xfrm>
            <a:off x="5102352" y="5532120"/>
            <a:ext cx="1965960"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02352" y="5586984"/>
            <a:ext cx="1965960" cy="256032"/>
          </a:xfrm>
          <a:prstGeom prst="rect">
            <a:avLst/>
          </a:prstGeom>
          <a:noFill/>
        </p:spPr>
        <p:txBody>
          <a:bodyPr wrap="none" lIns="0" tIns="0" rIns="0" bIns="0">
            <a:spAutoFit/>
          </a:bodyPr>
          <a:lstStyle/>
          <a:p>
            <a:pPr algn="ctr"/>
            <a:r>
              <a:rPr sz="950" b="1">
                <a:solidFill>
                  <a:srgbClr val="334155"/>
                </a:solidFill>
                <a:latin typeface="Segoe UI"/>
              </a:rPr>
              <a:t>Speculative Microarchitecture</a:t>
            </a:r>
          </a:p>
        </p:txBody>
      </p:sp>
      <p:sp>
        <p:nvSpPr>
          <p:cNvPr id="18" name="Rounded Rectangle 17"/>
          <p:cNvSpPr/>
          <p:nvPr/>
        </p:nvSpPr>
        <p:spPr>
          <a:xfrm>
            <a:off x="7196328" y="5532120"/>
            <a:ext cx="1965960"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7196328" y="5586984"/>
            <a:ext cx="1965960" cy="256032"/>
          </a:xfrm>
          <a:prstGeom prst="rect">
            <a:avLst/>
          </a:prstGeom>
          <a:noFill/>
        </p:spPr>
        <p:txBody>
          <a:bodyPr wrap="none" lIns="0" tIns="0" rIns="0" bIns="0">
            <a:spAutoFit/>
          </a:bodyPr>
          <a:lstStyle/>
          <a:p>
            <a:pPr algn="ctr"/>
            <a:r>
              <a:rPr sz="950" b="1">
                <a:solidFill>
                  <a:srgbClr val="334155"/>
                </a:solidFill>
                <a:latin typeface="Segoe UI"/>
              </a:rPr>
              <a:t>FLEX/BISON Compiler</a:t>
            </a:r>
          </a:p>
        </p:txBody>
      </p:sp>
      <p:sp>
        <p:nvSpPr>
          <p:cNvPr id="20" name="Rounded Rectangle 19"/>
          <p:cNvSpPr/>
          <p:nvPr/>
        </p:nvSpPr>
        <p:spPr>
          <a:xfrm>
            <a:off x="9290304" y="5532120"/>
            <a:ext cx="1965960" cy="329184"/>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290304" y="5586984"/>
            <a:ext cx="1965960" cy="256032"/>
          </a:xfrm>
          <a:prstGeom prst="rect">
            <a:avLst/>
          </a:prstGeom>
          <a:noFill/>
        </p:spPr>
        <p:txBody>
          <a:bodyPr wrap="none" lIns="0" tIns="0" rIns="0" bIns="0">
            <a:spAutoFit/>
          </a:bodyPr>
          <a:lstStyle/>
          <a:p>
            <a:pPr algn="ctr"/>
            <a:r>
              <a:rPr sz="950" b="1">
                <a:solidFill>
                  <a:srgbClr val="334155"/>
                </a:solidFill>
                <a:latin typeface="Segoe UI"/>
              </a:rPr>
              <a:t>FPGA Acceleration</a:t>
            </a:r>
          </a:p>
        </p:txBody>
      </p:sp>
      <p:sp>
        <p:nvSpPr>
          <p:cNvPr id="22" name="TextBox 21"/>
          <p:cNvSpPr txBox="1"/>
          <p:nvPr/>
        </p:nvSpPr>
        <p:spPr>
          <a:xfrm>
            <a:off x="914400" y="62179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Based on published IEEE TCAD work</a:t>
            </a:r>
          </a:p>
        </p:txBody>
      </p:sp>
      <p:sp>
        <p:nvSpPr>
          <p:cNvPr id="23" name="TextBox 22"/>
          <p:cNvSpPr txBox="1"/>
          <p:nvPr/>
        </p:nvSpPr>
        <p:spPr>
          <a:xfrm>
            <a:off x="10972800" y="6217920"/>
            <a:ext cx="457200" cy="274320"/>
          </a:xfrm>
          <a:prstGeom prst="rect">
            <a:avLst/>
          </a:prstGeom>
          <a:noFill/>
        </p:spPr>
        <p:txBody>
          <a:bodyPr wrap="none" lIns="0" tIns="0" rIns="0" bIns="0">
            <a:spAutoFit/>
          </a:bodyPr>
          <a:lstStyle/>
          <a:p>
            <a:pPr algn="r"/>
            <a:r>
              <a:rPr sz="1000" b="1">
                <a:solidFill>
                  <a:srgbClr val="64748B"/>
                </a:solidFill>
                <a:latin typeface="Segoe UI"/>
              </a:rPr>
              <a:t>1</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1. Topic overview</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First, understand the computational problem the paper is trying to solve.</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2</a:t>
            </a:r>
          </a:p>
        </p:txBody>
      </p:sp>
      <p:sp>
        <p:nvSpPr>
          <p:cNvPr id="7" name="Rounded Rectangle 6"/>
          <p:cNvSpPr/>
          <p:nvPr/>
        </p:nvSpPr>
        <p:spPr>
          <a:xfrm>
            <a:off x="731520" y="13716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3328416"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1600200"/>
            <a:ext cx="2871216" cy="3291840"/>
          </a:xfrm>
          <a:prstGeom prst="rect">
            <a:avLst/>
          </a:prstGeom>
          <a:noFill/>
        </p:spPr>
        <p:txBody>
          <a:bodyPr wrap="square" lIns="0" tIns="0" rIns="0" bIns="0">
            <a:spAutoFit/>
          </a:bodyPr>
          <a:lstStyle/>
          <a:p>
            <a:pPr algn="l">
              <a:spcAft>
                <a:spcPts val="800"/>
              </a:spcAft>
            </a:pPr>
            <a:r>
              <a:rPr sz="1600" b="1">
                <a:solidFill>
                  <a:srgbClr val="0F172A"/>
                </a:solidFill>
                <a:latin typeface="Segoe UI"/>
              </a:rPr>
              <a:t>Regular Expressions (REs)</a:t>
            </a:r>
          </a:p>
          <a:p>
            <a:pPr algn="l">
              <a:spcAft>
                <a:spcPts val="800"/>
              </a:spcAft>
            </a:pPr>
            <a:r>
              <a:rPr sz="1100" b="0">
                <a:solidFill>
                  <a:srgbClr val="334155"/>
                </a:solidFill>
                <a:latin typeface="Segoe UI"/>
              </a:rPr>
              <a:t>Foundational pattern-matching language across modern computing systems:</a:t>
            </a:r>
          </a:p>
          <a:p>
            <a:pPr algn="l"/>
            <a:r>
              <a:rPr sz="1050" b="0">
                <a:solidFill>
                  <a:srgbClr val="64748B"/>
                </a:solidFill>
                <a:latin typeface="Segoe UI"/>
              </a:rPr>
              <a:t>• Computer Security: Deep Packet Inspection (Snort, Zeek) and Antivirus scanning (ClamAV).
• Personalized Medicine: Scanning genomic databases for DNA/RNA motifs and protein sequences.
• Big Data &amp; Logs: Real-time telemetry filtering and high-speed data ingestion.</a:t>
            </a:r>
          </a:p>
        </p:txBody>
      </p:sp>
      <p:sp>
        <p:nvSpPr>
          <p:cNvPr id="10" name="Rounded Rectangle 9"/>
          <p:cNvSpPr/>
          <p:nvPr/>
        </p:nvSpPr>
        <p:spPr>
          <a:xfrm>
            <a:off x="4425696" y="13716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25696" y="1371600"/>
            <a:ext cx="3328416" cy="73152"/>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54296" y="1600200"/>
            <a:ext cx="2871216" cy="3291840"/>
          </a:xfrm>
          <a:prstGeom prst="rect">
            <a:avLst/>
          </a:prstGeom>
          <a:noFill/>
        </p:spPr>
        <p:txBody>
          <a:bodyPr wrap="square" lIns="0" tIns="0" rIns="0" bIns="0">
            <a:spAutoFit/>
          </a:bodyPr>
          <a:lstStyle/>
          <a:p>
            <a:pPr algn="l">
              <a:spcAft>
                <a:spcPts val="800"/>
              </a:spcAft>
            </a:pPr>
            <a:r>
              <a:rPr sz="1600" b="1">
                <a:solidFill>
                  <a:srgbClr val="0F172A"/>
                </a:solidFill>
                <a:latin typeface="Segoe UI"/>
              </a:rPr>
              <a:t>The Hardware Bottleneck</a:t>
            </a:r>
          </a:p>
          <a:p>
            <a:pPr algn="l">
              <a:spcAft>
                <a:spcPts val="800"/>
              </a:spcAft>
            </a:pPr>
            <a:r>
              <a:rPr sz="1100" b="0">
                <a:solidFill>
                  <a:srgbClr val="334155"/>
                </a:solidFill>
                <a:latin typeface="Segoe UI"/>
              </a:rPr>
              <a:t>Strict data dependencies and massive computational complexity:</a:t>
            </a:r>
          </a:p>
          <a:p>
            <a:pPr algn="l"/>
            <a:r>
              <a:rPr sz="1050" b="0">
                <a:solidFill>
                  <a:srgbClr val="64748B"/>
                </a:solidFill>
                <a:latin typeface="Segoe UI"/>
              </a:rPr>
              <a:t>• Branch Divergence: Quantifiers (*, +, ?), repetitions {m,n}, and alternations (a|b) force constant backtracking.
• Memory Bound: DFA representations suffer from exponential state explosion, overwhelming CPU caches.
• CPU/GPU Penalties: General-purpose cores stall on serialization and memory latency at 100+ Gbps line rates.</a:t>
            </a:r>
          </a:p>
        </p:txBody>
      </p:sp>
      <p:sp>
        <p:nvSpPr>
          <p:cNvPr id="13" name="Rounded Rectangle 12"/>
          <p:cNvSpPr/>
          <p:nvPr/>
        </p:nvSpPr>
        <p:spPr>
          <a:xfrm>
            <a:off x="8119872" y="1371600"/>
            <a:ext cx="3328416" cy="36576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371600"/>
            <a:ext cx="3328416" cy="73152"/>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48472" y="1600200"/>
            <a:ext cx="2871216" cy="3291840"/>
          </a:xfrm>
          <a:prstGeom prst="rect">
            <a:avLst/>
          </a:prstGeom>
          <a:noFill/>
        </p:spPr>
        <p:txBody>
          <a:bodyPr wrap="square" lIns="0" tIns="0" rIns="0" bIns="0">
            <a:spAutoFit/>
          </a:bodyPr>
          <a:lstStyle/>
          <a:p>
            <a:pPr algn="l">
              <a:spcAft>
                <a:spcPts val="800"/>
              </a:spcAft>
            </a:pPr>
            <a:r>
              <a:rPr sz="1600" b="1">
                <a:solidFill>
                  <a:srgbClr val="0F172A"/>
                </a:solidFill>
                <a:latin typeface="Segoe UI"/>
              </a:rPr>
              <a:t>Domain-Specific Co-Design</a:t>
            </a:r>
          </a:p>
          <a:p>
            <a:pPr algn="l">
              <a:spcAft>
                <a:spcPts val="800"/>
              </a:spcAft>
            </a:pPr>
            <a:r>
              <a:rPr sz="1100" b="0">
                <a:solidFill>
                  <a:srgbClr val="334155"/>
                </a:solidFill>
                <a:latin typeface="Segoe UI"/>
              </a:rPr>
              <a:t>Treating Regular Expressions as a first-class Domain-Specific Language (DSL):</a:t>
            </a:r>
          </a:p>
          <a:p>
            <a:pPr algn="l"/>
            <a:r>
              <a:rPr sz="1050" b="0">
                <a:solidFill>
                  <a:srgbClr val="64748B"/>
                </a:solidFill>
                <a:latin typeface="Segoe UI"/>
              </a:rPr>
              <a:t>• Tailored 43-bit ISA: Purpose-built instructions handling character matching, ranges, and quantifiers.
• Speculative Microarchitecture: Hardware-managed speculation stack eliminates CPU software backtracking.
• Lightweight Compiler: Shifts structural complexity to compile-time software, keeping hardware lean and fast.</a:t>
            </a:r>
          </a:p>
        </p:txBody>
      </p:sp>
      <p:sp>
        <p:nvSpPr>
          <p:cNvPr id="16" name="Rounded Rectangle 15"/>
          <p:cNvSpPr/>
          <p:nvPr/>
        </p:nvSpPr>
        <p:spPr>
          <a:xfrm>
            <a:off x="731520" y="5257800"/>
            <a:ext cx="10725912" cy="9601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960120" y="5349240"/>
            <a:ext cx="10268712" cy="777240"/>
          </a:xfrm>
          <a:prstGeom prst="rect">
            <a:avLst/>
          </a:prstGeom>
          <a:noFill/>
        </p:spPr>
        <p:txBody>
          <a:bodyPr wrap="square" lIns="0" tIns="0" rIns="0" bIns="0">
            <a:spAutoFit/>
          </a:bodyPr>
          <a:lstStyle/>
          <a:p>
            <a:pPr algn="l"/>
            <a:r>
              <a:rPr sz="1150" b="0">
                <a:solidFill>
                  <a:srgbClr val="0F172A"/>
                </a:solidFill>
                <a:latin typeface="Segoe UI"/>
              </a:rPr>
              <a:t>Why it matters: Software engines (RE2, Hyperscan) are flexible but energy-intensive, while conventional hardware accelerators (ASICs/FPGAs) are fast but restricted to simple patterns. ALVEARE bridges this gap by uniting software flexibility with custom hardware efficiency.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2. Research Gap – Identified in the paper</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What existing regular expression workflows and hardware accelerators were missing.</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3</a:t>
            </a:r>
          </a:p>
        </p:txBody>
      </p:sp>
      <p:sp>
        <p:nvSpPr>
          <p:cNvPr id="7" name="Rounded Rectangle 6"/>
          <p:cNvSpPr/>
          <p:nvPr/>
        </p:nvSpPr>
        <p:spPr>
          <a:xfrm>
            <a:off x="731520" y="1325880"/>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463040"/>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502920" cy="411480"/>
          </a:xfrm>
          <a:prstGeom prst="rect">
            <a:avLst/>
          </a:prstGeom>
          <a:noFill/>
        </p:spPr>
        <p:txBody>
          <a:bodyPr wrap="none" lIns="0" tIns="0" rIns="0" bIns="0">
            <a:spAutoFit/>
          </a:bodyPr>
          <a:lstStyle/>
          <a:p>
            <a:pPr algn="ctr"/>
            <a:r>
              <a:rPr sz="1600" b="1">
                <a:solidFill>
                  <a:srgbClr val="1D4ED8"/>
                </a:solidFill>
                <a:latin typeface="Segoe UI"/>
              </a:rPr>
              <a:t>1</a:t>
            </a:r>
          </a:p>
        </p:txBody>
      </p:sp>
      <p:sp>
        <p:nvSpPr>
          <p:cNvPr id="10" name="TextBox 9"/>
          <p:cNvSpPr txBox="1"/>
          <p:nvPr/>
        </p:nvSpPr>
        <p:spPr>
          <a:xfrm>
            <a:off x="1508760" y="1435608"/>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Efficiency vs. Flexibility Dilemma</a:t>
            </a:r>
          </a:p>
          <a:p>
            <a:pPr algn="l"/>
            <a:r>
              <a:rPr sz="1050" b="0">
                <a:solidFill>
                  <a:srgbClr val="334155"/>
                </a:solidFill>
                <a:latin typeface="Segoe UI"/>
              </a:rPr>
              <a:t>Software engines (RE2, PCRE) support broad operators but run slowly with high power; hardware accelerators (ASICs) are rigid and support only trivial subsets.</a:t>
            </a:r>
          </a:p>
        </p:txBody>
      </p:sp>
      <p:sp>
        <p:nvSpPr>
          <p:cNvPr id="11" name="Rounded Rectangle 10"/>
          <p:cNvSpPr/>
          <p:nvPr/>
        </p:nvSpPr>
        <p:spPr>
          <a:xfrm>
            <a:off x="731520" y="2203704"/>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340864"/>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86584"/>
            <a:ext cx="502920" cy="411480"/>
          </a:xfrm>
          <a:prstGeom prst="rect">
            <a:avLst/>
          </a:prstGeom>
          <a:noFill/>
        </p:spPr>
        <p:txBody>
          <a:bodyPr wrap="none" lIns="0" tIns="0" rIns="0" bIns="0">
            <a:spAutoFit/>
          </a:bodyPr>
          <a:lstStyle/>
          <a:p>
            <a:pPr algn="ctr"/>
            <a:r>
              <a:rPr sz="1600" b="1">
                <a:solidFill>
                  <a:srgbClr val="1D4ED8"/>
                </a:solidFill>
                <a:latin typeface="Segoe UI"/>
              </a:rPr>
              <a:t>2</a:t>
            </a:r>
          </a:p>
        </p:txBody>
      </p:sp>
      <p:sp>
        <p:nvSpPr>
          <p:cNvPr id="14" name="TextBox 13"/>
          <p:cNvSpPr txBox="1"/>
          <p:nvPr/>
        </p:nvSpPr>
        <p:spPr>
          <a:xfrm>
            <a:off x="1508760" y="2313432"/>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Strict Data Dependencies &amp; Backtracking</a:t>
            </a:r>
          </a:p>
          <a:p>
            <a:pPr algn="l"/>
            <a:r>
              <a:rPr sz="1050" b="0">
                <a:solidFill>
                  <a:srgbClr val="334155"/>
                </a:solidFill>
                <a:latin typeface="Segoe UI"/>
              </a:rPr>
              <a:t>Complex operators like greedy/lazy quantifiers and alternations induce severe branch divergence, causing massive pipeline stalls on CPUs and GPUs.</a:t>
            </a:r>
          </a:p>
        </p:txBody>
      </p:sp>
      <p:sp>
        <p:nvSpPr>
          <p:cNvPr id="15" name="Rounded Rectangle 14"/>
          <p:cNvSpPr/>
          <p:nvPr/>
        </p:nvSpPr>
        <p:spPr>
          <a:xfrm>
            <a:off x="731520" y="3081528"/>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218688"/>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64408"/>
            <a:ext cx="502920" cy="411480"/>
          </a:xfrm>
          <a:prstGeom prst="rect">
            <a:avLst/>
          </a:prstGeom>
          <a:noFill/>
        </p:spPr>
        <p:txBody>
          <a:bodyPr wrap="none" lIns="0" tIns="0" rIns="0" bIns="0">
            <a:spAutoFit/>
          </a:bodyPr>
          <a:lstStyle/>
          <a:p>
            <a:pPr algn="ctr"/>
            <a:r>
              <a:rPr sz="1600" b="1">
                <a:solidFill>
                  <a:srgbClr val="1D4ED8"/>
                </a:solidFill>
                <a:latin typeface="Segoe UI"/>
              </a:rPr>
              <a:t>3</a:t>
            </a:r>
          </a:p>
        </p:txBody>
      </p:sp>
      <p:sp>
        <p:nvSpPr>
          <p:cNvPr id="18" name="TextBox 17"/>
          <p:cNvSpPr txBox="1"/>
          <p:nvPr/>
        </p:nvSpPr>
        <p:spPr>
          <a:xfrm>
            <a:off x="1508760" y="3191256"/>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Absence of Tailored RE ISAs</a:t>
            </a:r>
          </a:p>
          <a:p>
            <a:pPr algn="l"/>
            <a:r>
              <a:rPr sz="1050" b="0">
                <a:solidFill>
                  <a:srgbClr val="334155"/>
                </a:solidFill>
                <a:latin typeface="Segoe UI"/>
              </a:rPr>
              <a:t>General-purpose instruction sets (x86, ARM) require dozens of generic ALU cycles to process a single character set, range match, or repetition count.</a:t>
            </a:r>
          </a:p>
        </p:txBody>
      </p:sp>
      <p:sp>
        <p:nvSpPr>
          <p:cNvPr id="19" name="Rounded Rectangle 18"/>
          <p:cNvSpPr/>
          <p:nvPr/>
        </p:nvSpPr>
        <p:spPr>
          <a:xfrm>
            <a:off x="731520" y="3959352"/>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4096512"/>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142232"/>
            <a:ext cx="502920" cy="411480"/>
          </a:xfrm>
          <a:prstGeom prst="rect">
            <a:avLst/>
          </a:prstGeom>
          <a:noFill/>
        </p:spPr>
        <p:txBody>
          <a:bodyPr wrap="none" lIns="0" tIns="0" rIns="0" bIns="0">
            <a:spAutoFit/>
          </a:bodyPr>
          <a:lstStyle/>
          <a:p>
            <a:pPr algn="ctr"/>
            <a:r>
              <a:rPr sz="1600" b="1">
                <a:solidFill>
                  <a:srgbClr val="1D4ED8"/>
                </a:solidFill>
                <a:latin typeface="Segoe UI"/>
              </a:rPr>
              <a:t>4</a:t>
            </a:r>
          </a:p>
        </p:txBody>
      </p:sp>
      <p:sp>
        <p:nvSpPr>
          <p:cNvPr id="22" name="TextBox 21"/>
          <p:cNvSpPr txBox="1"/>
          <p:nvPr/>
        </p:nvSpPr>
        <p:spPr>
          <a:xfrm>
            <a:off x="1508760" y="4069080"/>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Automata Memory &amp; State Explosion</a:t>
            </a:r>
          </a:p>
          <a:p>
            <a:pPr algn="l"/>
            <a:r>
              <a:rPr sz="1050" b="0">
                <a:solidFill>
                  <a:srgbClr val="334155"/>
                </a:solidFill>
                <a:latin typeface="Segoe UI"/>
              </a:rPr>
              <a:t>Converting modern REs into Deterministic Finite Automata (DFAs) leads to exponential state space explosion; NFA alternatives require complex interconnects.</a:t>
            </a:r>
          </a:p>
        </p:txBody>
      </p:sp>
      <p:sp>
        <p:nvSpPr>
          <p:cNvPr id="23" name="Rounded Rectangle 22"/>
          <p:cNvSpPr/>
          <p:nvPr/>
        </p:nvSpPr>
        <p:spPr>
          <a:xfrm>
            <a:off x="731520" y="4837176"/>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8680" y="4974336"/>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020056"/>
            <a:ext cx="502920" cy="411480"/>
          </a:xfrm>
          <a:prstGeom prst="rect">
            <a:avLst/>
          </a:prstGeom>
          <a:noFill/>
        </p:spPr>
        <p:txBody>
          <a:bodyPr wrap="none" lIns="0" tIns="0" rIns="0" bIns="0">
            <a:spAutoFit/>
          </a:bodyPr>
          <a:lstStyle/>
          <a:p>
            <a:pPr algn="ctr"/>
            <a:r>
              <a:rPr sz="1600" b="1">
                <a:solidFill>
                  <a:srgbClr val="1D4ED8"/>
                </a:solidFill>
                <a:latin typeface="Segoe UI"/>
              </a:rPr>
              <a:t>5</a:t>
            </a:r>
          </a:p>
        </p:txBody>
      </p:sp>
      <p:sp>
        <p:nvSpPr>
          <p:cNvPr id="26" name="TextBox 25"/>
          <p:cNvSpPr txBox="1"/>
          <p:nvPr/>
        </p:nvSpPr>
        <p:spPr>
          <a:xfrm>
            <a:off x="1508760" y="4946904"/>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Line-Rate Energy Inefficiency</a:t>
            </a:r>
          </a:p>
          <a:p>
            <a:pPr algn="l"/>
            <a:r>
              <a:rPr sz="1050" b="0">
                <a:solidFill>
                  <a:srgbClr val="334155"/>
                </a:solidFill>
                <a:latin typeface="Segoe UI"/>
              </a:rPr>
              <a:t>Running 100+ Gbps network security inspection on server CPUs or SmartNIC DPUs consumes prohibitive amounts of energy and induces thermal throttling.</a:t>
            </a:r>
          </a:p>
        </p:txBody>
      </p:sp>
      <p:sp>
        <p:nvSpPr>
          <p:cNvPr id="27" name="Rounded Rectangle 26"/>
          <p:cNvSpPr/>
          <p:nvPr/>
        </p:nvSpPr>
        <p:spPr>
          <a:xfrm>
            <a:off x="731520" y="5779008"/>
            <a:ext cx="10725912" cy="530352"/>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833872"/>
            <a:ext cx="10332720" cy="411480"/>
          </a:xfrm>
          <a:prstGeom prst="rect">
            <a:avLst/>
          </a:prstGeom>
          <a:noFill/>
        </p:spPr>
        <p:txBody>
          <a:bodyPr wrap="square" lIns="0" tIns="0" rIns="0" bIns="0">
            <a:spAutoFit/>
          </a:bodyPr>
          <a:lstStyle/>
          <a:p>
            <a:pPr algn="l"/>
            <a:r>
              <a:rPr sz="1050" b="1">
                <a:solidFill>
                  <a:srgbClr val="0F172A"/>
                </a:solidFill>
                <a:latin typeface="Segoe UI"/>
              </a:rPr>
              <a:t>Research gap: A unified full-stack framework combining high-level regex expressiveness, fast compilation, and speculative line-rate hardware execution without exponential state explosion.</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3. Problem Statement</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The core research question and architectural trade-off addressed by the authors.</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4</a:t>
            </a:r>
          </a:p>
        </p:txBody>
      </p:sp>
      <p:sp>
        <p:nvSpPr>
          <p:cNvPr id="7" name="Rounded Rectangle 6"/>
          <p:cNvSpPr/>
          <p:nvPr/>
        </p:nvSpPr>
        <p:spPr>
          <a:xfrm>
            <a:off x="731520" y="1325880"/>
            <a:ext cx="10725912" cy="868680"/>
          </a:xfrm>
          <a:prstGeom prst="roundRect">
            <a:avLst/>
          </a:prstGeom>
          <a:solidFill>
            <a:srgbClr val="0F172A"/>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1005840" y="1417320"/>
            <a:ext cx="10149840" cy="685800"/>
          </a:xfrm>
          <a:prstGeom prst="rect">
            <a:avLst/>
          </a:prstGeom>
          <a:noFill/>
        </p:spPr>
        <p:txBody>
          <a:bodyPr wrap="square" lIns="0" tIns="0" rIns="0" bIns="0">
            <a:spAutoFit/>
          </a:bodyPr>
          <a:lstStyle/>
          <a:p>
            <a:pPr algn="l"/>
            <a:r>
              <a:rPr sz="1350" b="1">
                <a:solidFill>
                  <a:srgbClr val="FFFFFF"/>
                </a:solidFill>
                <a:latin typeface="Segoe UI"/>
              </a:rPr>
              <a:t>Core Question: How can regular expression matching overcome the efficiency vs. flexibility trade-off to provide high throughput and energy efficiency while preserving full support for complex, real-world regex operators?</a:t>
            </a:r>
          </a:p>
        </p:txBody>
      </p:sp>
      <p:sp>
        <p:nvSpPr>
          <p:cNvPr id="9" name="Rounded Rectangle 8"/>
          <p:cNvSpPr/>
          <p:nvPr/>
        </p:nvSpPr>
        <p:spPr>
          <a:xfrm>
            <a:off x="731520" y="2331720"/>
            <a:ext cx="5230368"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731520" y="2331720"/>
            <a:ext cx="5230368" cy="73152"/>
          </a:xfrm>
          <a:prstGeom prst="rect">
            <a:avLst/>
          </a:prstGeom>
          <a:solidFill>
            <a:srgbClr val="EF444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960120" y="2496312"/>
            <a:ext cx="4773168" cy="2880360"/>
          </a:xfrm>
          <a:prstGeom prst="rect">
            <a:avLst/>
          </a:prstGeom>
          <a:noFill/>
        </p:spPr>
        <p:txBody>
          <a:bodyPr wrap="square" lIns="0" tIns="0" rIns="0" bIns="0">
            <a:spAutoFit/>
          </a:bodyPr>
          <a:lstStyle/>
          <a:p>
            <a:pPr algn="l">
              <a:spcAft>
                <a:spcPts val="600"/>
              </a:spcAft>
            </a:pPr>
            <a:r>
              <a:rPr sz="1500" b="1">
                <a:solidFill>
                  <a:srgbClr val="0F172A"/>
                </a:solidFill>
                <a:latin typeface="Segoe UI"/>
              </a:rPr>
              <a:t>Traditional Workflows</a:t>
            </a:r>
          </a:p>
          <a:p>
            <a:pPr algn="l">
              <a:spcAft>
                <a:spcPts val="800"/>
              </a:spcAft>
            </a:pPr>
            <a:r>
              <a:rPr sz="1000" b="0">
                <a:solidFill>
                  <a:srgbClr val="334155"/>
                </a:solidFill>
                <a:latin typeface="Segoe UI"/>
              </a:rPr>
              <a:t>Path A: General-Purpose Software (RE2, PCRE, Hyperscan)
• High operator flexibility, but CPU/GPU thread divergence stalls throughput.
• DFAs cause memory explosion; NFAs require costly pointer chasing.</a:t>
            </a:r>
          </a:p>
          <a:p>
            <a:pPr algn="l">
              <a:spcAft>
                <a:spcPts val="800"/>
              </a:spcAft>
            </a:pPr>
            <a:r>
              <a:rPr sz="1000" b="0">
                <a:solidFill>
                  <a:srgbClr val="334155"/>
                </a:solidFill>
                <a:latin typeface="Segoe UI"/>
              </a:rPr>
              <a:t>Path B: Fixed Hardware Accelerators (Rigid ASICs)
• High throughput, but restricted to simple character matches.
• Inflexible: modifying expressions requires full FPGA/ASIC resynthesis.</a:t>
            </a:r>
          </a:p>
          <a:p>
            <a:pPr algn="l"/>
            <a:r>
              <a:rPr sz="1000" b="1">
                <a:solidFill>
                  <a:srgbClr val="B91C1C"/>
                </a:solidFill>
                <a:latin typeface="Segoe UI"/>
              </a:rPr>
              <a:t>Risk: Severe trade-off between operator support and line-rate performance.</a:t>
            </a:r>
          </a:p>
        </p:txBody>
      </p:sp>
      <p:sp>
        <p:nvSpPr>
          <p:cNvPr id="12" name="Rounded Rectangle 11"/>
          <p:cNvSpPr/>
          <p:nvPr/>
        </p:nvSpPr>
        <p:spPr>
          <a:xfrm>
            <a:off x="6227064" y="2331720"/>
            <a:ext cx="5230368" cy="315468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6227064" y="2331720"/>
            <a:ext cx="5230368" cy="73152"/>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55664" y="2496312"/>
            <a:ext cx="4773168" cy="2880360"/>
          </a:xfrm>
          <a:prstGeom prst="rect">
            <a:avLst/>
          </a:prstGeom>
          <a:noFill/>
        </p:spPr>
        <p:txBody>
          <a:bodyPr wrap="square" lIns="0" tIns="0" rIns="0" bIns="0">
            <a:spAutoFit/>
          </a:bodyPr>
          <a:lstStyle/>
          <a:p>
            <a:pPr algn="l">
              <a:spcAft>
                <a:spcPts val="600"/>
              </a:spcAft>
            </a:pPr>
            <a:r>
              <a:rPr sz="1500" b="1">
                <a:solidFill>
                  <a:srgbClr val="0F172A"/>
                </a:solidFill>
                <a:latin typeface="Segoe UI"/>
              </a:rPr>
              <a:t>Proposed ALVEARE Workflow</a:t>
            </a:r>
          </a:p>
          <a:p>
            <a:pPr algn="l">
              <a:spcAft>
                <a:spcPts val="1000"/>
              </a:spcAft>
            </a:pPr>
            <a:r>
              <a:rPr sz="1000" b="0">
                <a:solidFill>
                  <a:srgbClr val="334155"/>
                </a:solidFill>
                <a:latin typeface="Segoe UI"/>
              </a:rPr>
              <a:t>1. DSL Treatment: Treat regular expressions as a domain-specific language.
2. Ad-hoc Compiler: Parse and optimize ASTs, emitting 43-bit RISC code in O(N).
3. Speculative Microarchitecture: Single-cycle hardware rollback via on-chip stack.
4. Scalable DSA: Multi-core execution scaling from 1 to 10+ cores on FPGA.</a:t>
            </a:r>
          </a:p>
          <a:p>
            <a:pPr algn="l"/>
            <a:r>
              <a:rPr sz="1000" b="1">
                <a:solidFill>
                  <a:srgbClr val="1D4ED8"/>
                </a:solidFill>
                <a:latin typeface="Segoe UI"/>
              </a:rPr>
              <a:t>Advantage: Full operator flexibility with custom silicon speed &amp; efficiency.</a:t>
            </a:r>
          </a:p>
        </p:txBody>
      </p:sp>
      <p:sp>
        <p:nvSpPr>
          <p:cNvPr id="15" name="Rounded Rectangle 14"/>
          <p:cNvSpPr/>
          <p:nvPr/>
        </p:nvSpPr>
        <p:spPr>
          <a:xfrm>
            <a:off x="731520" y="5650992"/>
            <a:ext cx="10725912" cy="658368"/>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5724144"/>
            <a:ext cx="10332720" cy="502920"/>
          </a:xfrm>
          <a:prstGeom prst="rect">
            <a:avLst/>
          </a:prstGeom>
          <a:noFill/>
        </p:spPr>
        <p:txBody>
          <a:bodyPr wrap="square" lIns="0" tIns="0" rIns="0" bIns="0">
            <a:spAutoFit/>
          </a:bodyPr>
          <a:lstStyle/>
          <a:p>
            <a:pPr algn="l"/>
            <a:r>
              <a:rPr sz="1100" b="1">
                <a:solidFill>
                  <a:srgbClr val="0F172A"/>
                </a:solidFill>
                <a:latin typeface="Segoe UI"/>
              </a:rPr>
              <a:t>Objective: Shift structural complexity from hardware to software, creating a lightweight speculative DSA that achieves up to 34x speedup and 57x energy savings while retaining broad operator support.</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4. Methods used in the paper to implement the research gap</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A full-stack hardware-software co-design spanning benchmarks, compiler, ISA, and microarchitecture.</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5</a:t>
            </a:r>
          </a:p>
        </p:txBody>
      </p:sp>
      <p:sp>
        <p:nvSpPr>
          <p:cNvPr id="7" name="Rounded Rectangle 6"/>
          <p:cNvSpPr/>
          <p:nvPr/>
        </p:nvSpPr>
        <p:spPr>
          <a:xfrm>
            <a:off x="731520" y="1371600"/>
            <a:ext cx="3328416"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1371600"/>
            <a:ext cx="3328416"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08760"/>
            <a:ext cx="2962656" cy="1691640"/>
          </a:xfrm>
          <a:prstGeom prst="rect">
            <a:avLst/>
          </a:prstGeom>
          <a:noFill/>
        </p:spPr>
        <p:txBody>
          <a:bodyPr wrap="square" lIns="0" tIns="0" rIns="0" bIns="0">
            <a:spAutoFit/>
          </a:bodyPr>
          <a:lstStyle/>
          <a:p>
            <a:pPr algn="l">
              <a:spcAft>
                <a:spcPts val="600"/>
              </a:spcAft>
            </a:pPr>
            <a:r>
              <a:rPr sz="1250" b="1">
                <a:solidFill>
                  <a:srgbClr val="0F172A"/>
                </a:solidFill>
                <a:latin typeface="Segoe UI"/>
              </a:rPr>
              <a:t>Benchmark Operator Analysis</a:t>
            </a:r>
          </a:p>
          <a:p>
            <a:pPr algn="l"/>
            <a:r>
              <a:rPr sz="950" b="0">
                <a:solidFill>
                  <a:srgbClr val="334155"/>
                </a:solidFill>
                <a:latin typeface="Segoe UI"/>
              </a:rPr>
              <a:t>Quantitatively analyzed 6 benchmark suites (ANMLZoo: Snort, PowerEN, Protomata; Brill, ClamAV, Dotstar) to profile real-world operator frequencies.</a:t>
            </a:r>
          </a:p>
        </p:txBody>
      </p:sp>
      <p:sp>
        <p:nvSpPr>
          <p:cNvPr id="10" name="Rounded Rectangle 9"/>
          <p:cNvSpPr/>
          <p:nvPr/>
        </p:nvSpPr>
        <p:spPr>
          <a:xfrm>
            <a:off x="4425696" y="1371600"/>
            <a:ext cx="3328416"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4425696" y="1371600"/>
            <a:ext cx="3328416"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608576" y="1508760"/>
            <a:ext cx="2962656" cy="1691640"/>
          </a:xfrm>
          <a:prstGeom prst="rect">
            <a:avLst/>
          </a:prstGeom>
          <a:noFill/>
        </p:spPr>
        <p:txBody>
          <a:bodyPr wrap="square" lIns="0" tIns="0" rIns="0" bIns="0">
            <a:spAutoFit/>
          </a:bodyPr>
          <a:lstStyle/>
          <a:p>
            <a:pPr algn="l">
              <a:spcAft>
                <a:spcPts val="600"/>
              </a:spcAft>
            </a:pPr>
            <a:r>
              <a:rPr sz="1250" b="1">
                <a:solidFill>
                  <a:srgbClr val="0F172A"/>
                </a:solidFill>
                <a:latin typeface="Segoe UI"/>
              </a:rPr>
              <a:t>43-bit RISC-based RE ISA</a:t>
            </a:r>
          </a:p>
          <a:p>
            <a:pPr algn="l"/>
            <a:r>
              <a:rPr sz="950" b="0">
                <a:solidFill>
                  <a:srgbClr val="334155"/>
                </a:solidFill>
                <a:latin typeface="Segoe UI"/>
              </a:rPr>
              <a:t>Custom 43-bit instruction set with 3 classes: Control (branches/loops), Base (single char/wildcard), and Complex (classes, ranges, quantifiers).</a:t>
            </a:r>
          </a:p>
        </p:txBody>
      </p:sp>
      <p:sp>
        <p:nvSpPr>
          <p:cNvPr id="13" name="Rounded Rectangle 12"/>
          <p:cNvSpPr/>
          <p:nvPr/>
        </p:nvSpPr>
        <p:spPr>
          <a:xfrm>
            <a:off x="8119872" y="1371600"/>
            <a:ext cx="3328416"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8119872" y="1371600"/>
            <a:ext cx="3328416"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8302752" y="1508760"/>
            <a:ext cx="2962656" cy="1691640"/>
          </a:xfrm>
          <a:prstGeom prst="rect">
            <a:avLst/>
          </a:prstGeom>
          <a:noFill/>
        </p:spPr>
        <p:txBody>
          <a:bodyPr wrap="square" lIns="0" tIns="0" rIns="0" bIns="0">
            <a:spAutoFit/>
          </a:bodyPr>
          <a:lstStyle/>
          <a:p>
            <a:pPr algn="l">
              <a:spcAft>
                <a:spcPts val="600"/>
              </a:spcAft>
            </a:pPr>
            <a:r>
              <a:rPr sz="1250" b="1">
                <a:solidFill>
                  <a:srgbClr val="0F172A"/>
                </a:solidFill>
                <a:latin typeface="Segoe UI"/>
              </a:rPr>
              <a:t>Speculative Microarchitecture</a:t>
            </a:r>
          </a:p>
          <a:p>
            <a:pPr algn="l"/>
            <a:r>
              <a:rPr sz="950" b="0">
                <a:solidFill>
                  <a:srgbClr val="334155"/>
                </a:solidFill>
                <a:latin typeface="Segoe UI"/>
              </a:rPr>
              <a:t>Speculation engine with on-chip Speculation Stack that checkpoints states, handling greedy/lazy backtracking without CPU intervention.</a:t>
            </a:r>
          </a:p>
        </p:txBody>
      </p:sp>
      <p:sp>
        <p:nvSpPr>
          <p:cNvPr id="16" name="Rounded Rectangle 15"/>
          <p:cNvSpPr/>
          <p:nvPr/>
        </p:nvSpPr>
        <p:spPr>
          <a:xfrm>
            <a:off x="731520" y="3520440"/>
            <a:ext cx="3328416"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731520" y="3520440"/>
            <a:ext cx="3328416"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914400" y="3657600"/>
            <a:ext cx="2962656" cy="1691640"/>
          </a:xfrm>
          <a:prstGeom prst="rect">
            <a:avLst/>
          </a:prstGeom>
          <a:noFill/>
        </p:spPr>
        <p:txBody>
          <a:bodyPr wrap="square" lIns="0" tIns="0" rIns="0" bIns="0">
            <a:spAutoFit/>
          </a:bodyPr>
          <a:lstStyle/>
          <a:p>
            <a:pPr algn="l">
              <a:spcAft>
                <a:spcPts val="600"/>
              </a:spcAft>
            </a:pPr>
            <a:r>
              <a:rPr sz="1250" b="1">
                <a:solidFill>
                  <a:srgbClr val="0F172A"/>
                </a:solidFill>
                <a:latin typeface="Segoe UI"/>
              </a:rPr>
              <a:t>3 Decode Units &amp; Vector Compute</a:t>
            </a:r>
          </a:p>
          <a:p>
            <a:pPr algn="l"/>
            <a:r>
              <a:rPr sz="950" b="0">
                <a:solidFill>
                  <a:srgbClr val="334155"/>
                </a:solidFill>
                <a:latin typeface="Segoe UI"/>
              </a:rPr>
              <a:t>Parallel front-end featuring 3 decode units dispatching instructions simultaneously to Vector Compute Units (VCUs) for multi-character evaluations.</a:t>
            </a:r>
          </a:p>
        </p:txBody>
      </p:sp>
      <p:sp>
        <p:nvSpPr>
          <p:cNvPr id="19" name="Rounded Rectangle 18"/>
          <p:cNvSpPr/>
          <p:nvPr/>
        </p:nvSpPr>
        <p:spPr>
          <a:xfrm>
            <a:off x="4425696" y="3520440"/>
            <a:ext cx="3328416"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4425696" y="3520440"/>
            <a:ext cx="3328416" cy="54864"/>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608576" y="3657600"/>
            <a:ext cx="2962656" cy="1691640"/>
          </a:xfrm>
          <a:prstGeom prst="rect">
            <a:avLst/>
          </a:prstGeom>
          <a:noFill/>
        </p:spPr>
        <p:txBody>
          <a:bodyPr wrap="square" lIns="0" tIns="0" rIns="0" bIns="0">
            <a:spAutoFit/>
          </a:bodyPr>
          <a:lstStyle/>
          <a:p>
            <a:pPr algn="l">
              <a:spcAft>
                <a:spcPts val="600"/>
              </a:spcAft>
            </a:pPr>
            <a:r>
              <a:rPr sz="1250" b="1">
                <a:solidFill>
                  <a:srgbClr val="0F172A"/>
                </a:solidFill>
                <a:latin typeface="Segoe UI"/>
              </a:rPr>
              <a:t>Ad-Hoc Optimizing C Compiler</a:t>
            </a:r>
          </a:p>
          <a:p>
            <a:pPr algn="l"/>
            <a:r>
              <a:rPr sz="950" b="0">
                <a:solidFill>
                  <a:srgbClr val="334155"/>
                </a:solidFill>
                <a:latin typeface="Segoe UI"/>
              </a:rPr>
              <a:t>Written in C (FLEX/BISON). Translates ASTs into optimized 43-bit machine code with linear O(N) time and space complexity, eliminating state explosion.</a:t>
            </a:r>
          </a:p>
        </p:txBody>
      </p:sp>
      <p:sp>
        <p:nvSpPr>
          <p:cNvPr id="22" name="Rounded Rectangle 21"/>
          <p:cNvSpPr/>
          <p:nvPr/>
        </p:nvSpPr>
        <p:spPr>
          <a:xfrm>
            <a:off x="8119872" y="3520440"/>
            <a:ext cx="3328416" cy="1920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8119872" y="3520440"/>
            <a:ext cx="3328416" cy="54864"/>
          </a:xfrm>
          <a:prstGeom prst="rect">
            <a:avLst/>
          </a:prstGeom>
          <a:solidFill>
            <a:srgbClr val="0284C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8302752" y="3657600"/>
            <a:ext cx="2962656" cy="1691640"/>
          </a:xfrm>
          <a:prstGeom prst="rect">
            <a:avLst/>
          </a:prstGeom>
          <a:noFill/>
        </p:spPr>
        <p:txBody>
          <a:bodyPr wrap="square" lIns="0" tIns="0" rIns="0" bIns="0">
            <a:spAutoFit/>
          </a:bodyPr>
          <a:lstStyle/>
          <a:p>
            <a:pPr algn="l">
              <a:spcAft>
                <a:spcPts val="600"/>
              </a:spcAft>
            </a:pPr>
            <a:r>
              <a:rPr sz="1250" b="1">
                <a:solidFill>
                  <a:srgbClr val="0F172A"/>
                </a:solidFill>
                <a:latin typeface="Segoe UI"/>
              </a:rPr>
              <a:t>Multi-Core FPGA Prototyping</a:t>
            </a:r>
          </a:p>
          <a:p>
            <a:pPr algn="l"/>
            <a:r>
              <a:rPr sz="950" b="0">
                <a:solidFill>
                  <a:srgbClr val="334155"/>
                </a:solidFill>
                <a:latin typeface="Segoe UI"/>
              </a:rPr>
              <a:t>Synthesized in VHDL on an Avnet Ultra96v2 FPGA (Xilinx ZU3EG MPSoC) at 300 MHz, linearly scaling from 1 to 10 independent cores.</a:t>
            </a:r>
          </a:p>
        </p:txBody>
      </p:sp>
      <p:sp>
        <p:nvSpPr>
          <p:cNvPr id="25" name="Rounded Rectangle 24"/>
          <p:cNvSpPr/>
          <p:nvPr/>
        </p:nvSpPr>
        <p:spPr>
          <a:xfrm>
            <a:off x="731520" y="5650992"/>
            <a:ext cx="10725912" cy="658368"/>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914400" y="5724144"/>
            <a:ext cx="10332720" cy="502920"/>
          </a:xfrm>
          <a:prstGeom prst="rect">
            <a:avLst/>
          </a:prstGeom>
          <a:noFill/>
        </p:spPr>
        <p:txBody>
          <a:bodyPr wrap="square" lIns="0" tIns="0" rIns="0" bIns="0">
            <a:spAutoFit/>
          </a:bodyPr>
          <a:lstStyle/>
          <a:p>
            <a:pPr algn="l"/>
            <a:r>
              <a:rPr sz="1050" b="1">
                <a:solidFill>
                  <a:srgbClr val="0F172A"/>
                </a:solidFill>
                <a:latin typeface="Segoe UI"/>
              </a:rPr>
              <a:t>Hardware-Software Co-Design Principle: Lifting structural complexity to the compiler keeps the hardware core lightweight and fast, enabling multi-core scalability on low-cost FPGA silicon.</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5. Input to the proposed method</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What information and datasets enter the ALVEARE framework?</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6</a:t>
            </a:r>
          </a:p>
        </p:txBody>
      </p:sp>
      <p:sp>
        <p:nvSpPr>
          <p:cNvPr id="7" name="Rounded Rectangle 6"/>
          <p:cNvSpPr/>
          <p:nvPr/>
        </p:nvSpPr>
        <p:spPr>
          <a:xfrm>
            <a:off x="731520" y="1371600"/>
            <a:ext cx="3328416"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914400" y="1536192"/>
            <a:ext cx="109728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14400" y="1572768"/>
            <a:ext cx="1097280" cy="256032"/>
          </a:xfrm>
          <a:prstGeom prst="rect">
            <a:avLst/>
          </a:prstGeom>
          <a:noFill/>
        </p:spPr>
        <p:txBody>
          <a:bodyPr wrap="none" lIns="0" tIns="0" rIns="0" bIns="0">
            <a:spAutoFit/>
          </a:bodyPr>
          <a:lstStyle/>
          <a:p>
            <a:pPr algn="ctr"/>
            <a:r>
              <a:rPr sz="1050" b="1">
                <a:solidFill>
                  <a:srgbClr val="1D4ED8"/>
                </a:solidFill>
                <a:latin typeface="Segoe UI"/>
              </a:rPr>
              <a:t>Input A</a:t>
            </a:r>
          </a:p>
        </p:txBody>
      </p:sp>
      <p:sp>
        <p:nvSpPr>
          <p:cNvPr id="10" name="TextBox 9"/>
          <p:cNvSpPr txBox="1"/>
          <p:nvPr/>
        </p:nvSpPr>
        <p:spPr>
          <a:xfrm>
            <a:off x="914400" y="1920240"/>
            <a:ext cx="2962656" cy="2331720"/>
          </a:xfrm>
          <a:prstGeom prst="rect">
            <a:avLst/>
          </a:prstGeom>
          <a:noFill/>
        </p:spPr>
        <p:txBody>
          <a:bodyPr wrap="square" lIns="0" tIns="0" rIns="0" bIns="0">
            <a:spAutoFit/>
          </a:bodyPr>
          <a:lstStyle/>
          <a:p>
            <a:pPr algn="l">
              <a:spcAft>
                <a:spcPts val="600"/>
              </a:spcAft>
            </a:pPr>
            <a:r>
              <a:rPr sz="1400" b="1">
                <a:solidFill>
                  <a:srgbClr val="0F172A"/>
                </a:solidFill>
                <a:latin typeface="Segoe UI"/>
              </a:rPr>
              <a:t>Regular Expression Rules</a:t>
            </a:r>
          </a:p>
          <a:p>
            <a:pPr algn="l"/>
            <a:r>
              <a:rPr sz="1000" b="0">
                <a:solidFill>
                  <a:srgbClr val="334155"/>
                </a:solidFill>
                <a:latin typeface="Segoe UI"/>
              </a:rPr>
              <a:t>• Syntax: PCRE/POSIX regular expression rulesets.
• Complex Operators: Character classes [a-z], sets, bounds {m,n}, greedy &amp; lazy quantifiers (*, +, ?).
• Benchmark Rules: 200 randomly selected patterns each from Snort, Protomata, and PowerEN.</a:t>
            </a:r>
          </a:p>
        </p:txBody>
      </p:sp>
      <p:sp>
        <p:nvSpPr>
          <p:cNvPr id="11" name="Rounded Rectangle 10"/>
          <p:cNvSpPr/>
          <p:nvPr/>
        </p:nvSpPr>
        <p:spPr>
          <a:xfrm>
            <a:off x="4425696" y="1371600"/>
            <a:ext cx="3328416"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4608576" y="1536192"/>
            <a:ext cx="109728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608576" y="1572768"/>
            <a:ext cx="1097280" cy="256032"/>
          </a:xfrm>
          <a:prstGeom prst="rect">
            <a:avLst/>
          </a:prstGeom>
          <a:noFill/>
        </p:spPr>
        <p:txBody>
          <a:bodyPr wrap="none" lIns="0" tIns="0" rIns="0" bIns="0">
            <a:spAutoFit/>
          </a:bodyPr>
          <a:lstStyle/>
          <a:p>
            <a:pPr algn="ctr"/>
            <a:r>
              <a:rPr sz="1050" b="1">
                <a:solidFill>
                  <a:srgbClr val="1D4ED8"/>
                </a:solidFill>
                <a:latin typeface="Segoe UI"/>
              </a:rPr>
              <a:t>Input B</a:t>
            </a:r>
          </a:p>
        </p:txBody>
      </p:sp>
      <p:sp>
        <p:nvSpPr>
          <p:cNvPr id="14" name="TextBox 13"/>
          <p:cNvSpPr txBox="1"/>
          <p:nvPr/>
        </p:nvSpPr>
        <p:spPr>
          <a:xfrm>
            <a:off x="4608576" y="1920240"/>
            <a:ext cx="2962656" cy="2331720"/>
          </a:xfrm>
          <a:prstGeom prst="rect">
            <a:avLst/>
          </a:prstGeom>
          <a:noFill/>
        </p:spPr>
        <p:txBody>
          <a:bodyPr wrap="square" lIns="0" tIns="0" rIns="0" bIns="0">
            <a:spAutoFit/>
          </a:bodyPr>
          <a:lstStyle/>
          <a:p>
            <a:pPr algn="l">
              <a:spcAft>
                <a:spcPts val="600"/>
              </a:spcAft>
            </a:pPr>
            <a:r>
              <a:rPr sz="1400" b="1">
                <a:solidFill>
                  <a:srgbClr val="0F172A"/>
                </a:solidFill>
                <a:latin typeface="Segoe UI"/>
              </a:rPr>
              <a:t>Target Data Streams</a:t>
            </a:r>
          </a:p>
          <a:p>
            <a:pPr algn="l"/>
            <a:r>
              <a:rPr sz="1000" b="0">
                <a:solidFill>
                  <a:srgbClr val="334155"/>
                </a:solidFill>
                <a:latin typeface="Segoe UI"/>
              </a:rPr>
              <a:t>• Streaming Data: Raw unstructured byte streams inspected in real time.
• Standardized Input: 1 MB benchmark payload files per test suite.
• Block Chunking: Processed in 16 KB chunks matching on-chip memory buffers.</a:t>
            </a:r>
          </a:p>
        </p:txBody>
      </p:sp>
      <p:sp>
        <p:nvSpPr>
          <p:cNvPr id="15" name="Rounded Rectangle 14"/>
          <p:cNvSpPr/>
          <p:nvPr/>
        </p:nvSpPr>
        <p:spPr>
          <a:xfrm>
            <a:off x="8119872" y="1371600"/>
            <a:ext cx="3328416" cy="29718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302752" y="1536192"/>
            <a:ext cx="1097280" cy="292608"/>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302752" y="1572768"/>
            <a:ext cx="1097280" cy="256032"/>
          </a:xfrm>
          <a:prstGeom prst="rect">
            <a:avLst/>
          </a:prstGeom>
          <a:noFill/>
        </p:spPr>
        <p:txBody>
          <a:bodyPr wrap="none" lIns="0" tIns="0" rIns="0" bIns="0">
            <a:spAutoFit/>
          </a:bodyPr>
          <a:lstStyle/>
          <a:p>
            <a:pPr algn="ctr"/>
            <a:r>
              <a:rPr sz="1050" b="1">
                <a:solidFill>
                  <a:srgbClr val="1D4ED8"/>
                </a:solidFill>
                <a:latin typeface="Segoe UI"/>
              </a:rPr>
              <a:t>Input C</a:t>
            </a:r>
          </a:p>
        </p:txBody>
      </p:sp>
      <p:sp>
        <p:nvSpPr>
          <p:cNvPr id="18" name="TextBox 17"/>
          <p:cNvSpPr txBox="1"/>
          <p:nvPr/>
        </p:nvSpPr>
        <p:spPr>
          <a:xfrm>
            <a:off x="8302752" y="1920240"/>
            <a:ext cx="2962656" cy="2331720"/>
          </a:xfrm>
          <a:prstGeom prst="rect">
            <a:avLst/>
          </a:prstGeom>
          <a:noFill/>
        </p:spPr>
        <p:txBody>
          <a:bodyPr wrap="square" lIns="0" tIns="0" rIns="0" bIns="0">
            <a:spAutoFit/>
          </a:bodyPr>
          <a:lstStyle/>
          <a:p>
            <a:pPr algn="l">
              <a:spcAft>
                <a:spcPts val="600"/>
              </a:spcAft>
            </a:pPr>
            <a:r>
              <a:rPr sz="1400" b="1">
                <a:solidFill>
                  <a:srgbClr val="0F172A"/>
                </a:solidFill>
                <a:latin typeface="Segoe UI"/>
              </a:rPr>
              <a:t>Architecture Config</a:t>
            </a:r>
          </a:p>
          <a:p>
            <a:pPr algn="l"/>
            <a:r>
              <a:rPr sz="1000" b="0">
                <a:solidFill>
                  <a:srgbClr val="334155"/>
                </a:solidFill>
                <a:latin typeface="Segoe UI"/>
              </a:rPr>
              <a:t>• Hardware Allocation: 1 to 10 processing cores active on FPGA.
• Hardware Constraints: Max reference width (four 8-bit chars) and counters (0 to 62).
• Speculation Parameters: Stack depth configuring speculation limits and rollback.</a:t>
            </a:r>
          </a:p>
        </p:txBody>
      </p:sp>
      <p:sp>
        <p:nvSpPr>
          <p:cNvPr id="19" name="Rounded Rectangle 18"/>
          <p:cNvSpPr/>
          <p:nvPr/>
        </p:nvSpPr>
        <p:spPr>
          <a:xfrm>
            <a:off x="731520" y="4526280"/>
            <a:ext cx="10725912" cy="16916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60120" y="4663440"/>
            <a:ext cx="10268712" cy="1417320"/>
          </a:xfrm>
          <a:prstGeom prst="rect">
            <a:avLst/>
          </a:prstGeom>
          <a:noFill/>
        </p:spPr>
        <p:txBody>
          <a:bodyPr wrap="square" lIns="0" tIns="0" rIns="0" bIns="0">
            <a:spAutoFit/>
          </a:bodyPr>
          <a:lstStyle/>
          <a:p>
            <a:pPr algn="l">
              <a:spcAft>
                <a:spcPts val="400"/>
              </a:spcAft>
            </a:pPr>
            <a:r>
              <a:rPr sz="1250" b="1">
                <a:solidFill>
                  <a:srgbClr val="0F172A"/>
                </a:solidFill>
                <a:latin typeface="Segoe UI"/>
              </a:rPr>
              <a:t>Concrete Mini-Example:</a:t>
            </a:r>
          </a:p>
          <a:p>
            <a:pPr algn="l"/>
            <a:r>
              <a:rPr sz="1050" b="0">
                <a:solidFill>
                  <a:srgbClr val="334155"/>
                </a:solidFill>
                <a:latin typeface="Segoe UI"/>
              </a:rPr>
              <a:t>• Input RE: "/api/v[0-9]{1,2}/[a-z]+(\.json|\.xml)" (combines character classes, bounded repetition, alternation, and quantifiers)
• Target Stream: 16 KB network packet payload arriving from an Ethernet interface into FPGA BRAM buffers.
• Hardware Target: 4-core ALVEARE deployment running at 300 MHz on Xilinx Zynq UltraScale+ MPSoC.</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6. Output of the proposed method</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The framework produces optimized machine code, precise match telemetry, and high energy efficiency.</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7</a:t>
            </a:r>
          </a:p>
        </p:txBody>
      </p:sp>
      <p:sp>
        <p:nvSpPr>
          <p:cNvPr id="7" name="Rounded Rectangle 6"/>
          <p:cNvSpPr/>
          <p:nvPr/>
        </p:nvSpPr>
        <p:spPr>
          <a:xfrm>
            <a:off x="731520" y="1325880"/>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68680" y="1463040"/>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68680" y="1508760"/>
            <a:ext cx="502920" cy="411480"/>
          </a:xfrm>
          <a:prstGeom prst="rect">
            <a:avLst/>
          </a:prstGeom>
          <a:noFill/>
        </p:spPr>
        <p:txBody>
          <a:bodyPr wrap="none" lIns="0" tIns="0" rIns="0" bIns="0">
            <a:spAutoFit/>
          </a:bodyPr>
          <a:lstStyle/>
          <a:p>
            <a:pPr algn="ctr"/>
            <a:r>
              <a:rPr sz="1600" b="1">
                <a:solidFill>
                  <a:srgbClr val="1D4ED8"/>
                </a:solidFill>
                <a:latin typeface="Segoe UI"/>
              </a:rPr>
              <a:t>1</a:t>
            </a:r>
          </a:p>
        </p:txBody>
      </p:sp>
      <p:sp>
        <p:nvSpPr>
          <p:cNvPr id="10" name="TextBox 9"/>
          <p:cNvSpPr txBox="1"/>
          <p:nvPr/>
        </p:nvSpPr>
        <p:spPr>
          <a:xfrm>
            <a:off x="1508760" y="1435608"/>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Compiled 43-bit Machine Code</a:t>
            </a:r>
          </a:p>
          <a:p>
            <a:pPr algn="l"/>
            <a:r>
              <a:rPr sz="1050" b="0">
                <a:solidFill>
                  <a:srgbClr val="334155"/>
                </a:solidFill>
                <a:latin typeface="Segoe UI"/>
              </a:rPr>
              <a:t>Compact RISC-based binary instructions directly loadable into the processor's on-chip instruction memory, completely avoiding DFA state explosion.</a:t>
            </a:r>
          </a:p>
        </p:txBody>
      </p:sp>
      <p:sp>
        <p:nvSpPr>
          <p:cNvPr id="11" name="Rounded Rectangle 10"/>
          <p:cNvSpPr/>
          <p:nvPr/>
        </p:nvSpPr>
        <p:spPr>
          <a:xfrm>
            <a:off x="731520" y="2203704"/>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868680" y="2340864"/>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68680" y="2386584"/>
            <a:ext cx="502920" cy="411480"/>
          </a:xfrm>
          <a:prstGeom prst="rect">
            <a:avLst/>
          </a:prstGeom>
          <a:noFill/>
        </p:spPr>
        <p:txBody>
          <a:bodyPr wrap="none" lIns="0" tIns="0" rIns="0" bIns="0">
            <a:spAutoFit/>
          </a:bodyPr>
          <a:lstStyle/>
          <a:p>
            <a:pPr algn="ctr"/>
            <a:r>
              <a:rPr sz="1600" b="1">
                <a:solidFill>
                  <a:srgbClr val="1D4ED8"/>
                </a:solidFill>
                <a:latin typeface="Segoe UI"/>
              </a:rPr>
              <a:t>2</a:t>
            </a:r>
          </a:p>
        </p:txBody>
      </p:sp>
      <p:sp>
        <p:nvSpPr>
          <p:cNvPr id="14" name="TextBox 13"/>
          <p:cNvSpPr txBox="1"/>
          <p:nvPr/>
        </p:nvSpPr>
        <p:spPr>
          <a:xfrm>
            <a:off x="1508760" y="2313432"/>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Exact Match Flags &amp; Offsets</a:t>
            </a:r>
          </a:p>
          <a:p>
            <a:pPr algn="l"/>
            <a:r>
              <a:rPr sz="1050" b="0">
                <a:solidFill>
                  <a:srgbClr val="334155"/>
                </a:solidFill>
                <a:latin typeface="Segoe UI"/>
              </a:rPr>
              <a:t>Real-time boolean match signals accompanied by exact start and end byte coordinates of matching patterns within the streaming input buffer.</a:t>
            </a:r>
          </a:p>
        </p:txBody>
      </p:sp>
      <p:sp>
        <p:nvSpPr>
          <p:cNvPr id="15" name="Rounded Rectangle 14"/>
          <p:cNvSpPr/>
          <p:nvPr/>
        </p:nvSpPr>
        <p:spPr>
          <a:xfrm>
            <a:off x="731520" y="3081528"/>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868680" y="3218688"/>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68680" y="3264408"/>
            <a:ext cx="502920" cy="411480"/>
          </a:xfrm>
          <a:prstGeom prst="rect">
            <a:avLst/>
          </a:prstGeom>
          <a:noFill/>
        </p:spPr>
        <p:txBody>
          <a:bodyPr wrap="none" lIns="0" tIns="0" rIns="0" bIns="0">
            <a:spAutoFit/>
          </a:bodyPr>
          <a:lstStyle/>
          <a:p>
            <a:pPr algn="ctr"/>
            <a:r>
              <a:rPr sz="1600" b="1">
                <a:solidFill>
                  <a:srgbClr val="1D4ED8"/>
                </a:solidFill>
                <a:latin typeface="Segoe UI"/>
              </a:rPr>
              <a:t>3</a:t>
            </a:r>
          </a:p>
        </p:txBody>
      </p:sp>
      <p:sp>
        <p:nvSpPr>
          <p:cNvPr id="18" name="TextBox 17"/>
          <p:cNvSpPr txBox="1"/>
          <p:nvPr/>
        </p:nvSpPr>
        <p:spPr>
          <a:xfrm>
            <a:off x="1508760" y="3191256"/>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Line-Rate Acceleration Metrics</a:t>
            </a:r>
          </a:p>
          <a:p>
            <a:pPr algn="l"/>
            <a:r>
              <a:rPr sz="1050" b="0">
                <a:solidFill>
                  <a:srgbClr val="334155"/>
                </a:solidFill>
                <a:latin typeface="Segoe UI"/>
              </a:rPr>
              <a:t>Demonstrated execution speedup of up to 34x over CPU/DPU software solutions (RE2 on ARM A53, NVIDIA BlueField-2) and 356x faster than GPU implementations.</a:t>
            </a:r>
          </a:p>
        </p:txBody>
      </p:sp>
      <p:sp>
        <p:nvSpPr>
          <p:cNvPr id="19" name="Rounded Rectangle 18"/>
          <p:cNvSpPr/>
          <p:nvPr/>
        </p:nvSpPr>
        <p:spPr>
          <a:xfrm>
            <a:off x="731520" y="3959352"/>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868680" y="4096512"/>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68680" y="4142232"/>
            <a:ext cx="502920" cy="411480"/>
          </a:xfrm>
          <a:prstGeom prst="rect">
            <a:avLst/>
          </a:prstGeom>
          <a:noFill/>
        </p:spPr>
        <p:txBody>
          <a:bodyPr wrap="none" lIns="0" tIns="0" rIns="0" bIns="0">
            <a:spAutoFit/>
          </a:bodyPr>
          <a:lstStyle/>
          <a:p>
            <a:pPr algn="ctr"/>
            <a:r>
              <a:rPr sz="1600" b="1">
                <a:solidFill>
                  <a:srgbClr val="1D4ED8"/>
                </a:solidFill>
                <a:latin typeface="Segoe UI"/>
              </a:rPr>
              <a:t>4</a:t>
            </a:r>
          </a:p>
        </p:txBody>
      </p:sp>
      <p:sp>
        <p:nvSpPr>
          <p:cNvPr id="22" name="TextBox 21"/>
          <p:cNvSpPr txBox="1"/>
          <p:nvPr/>
        </p:nvSpPr>
        <p:spPr>
          <a:xfrm>
            <a:off x="1508760" y="4069080"/>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Ultra-Low Energy Dissipation</a:t>
            </a:r>
          </a:p>
          <a:p>
            <a:pPr algn="l"/>
            <a:r>
              <a:rPr sz="1050" b="0">
                <a:solidFill>
                  <a:srgbClr val="334155"/>
                </a:solidFill>
                <a:latin typeface="Segoe UI"/>
              </a:rPr>
              <a:t>Significant energy efficiency improvement of up to 57x (Joules per processed MB) compared to server CPUs, GPUs, and embedded SoC matchers.</a:t>
            </a:r>
          </a:p>
        </p:txBody>
      </p:sp>
      <p:sp>
        <p:nvSpPr>
          <p:cNvPr id="23" name="Rounded Rectangle 22"/>
          <p:cNvSpPr/>
          <p:nvPr/>
        </p:nvSpPr>
        <p:spPr>
          <a:xfrm>
            <a:off x="731520" y="4837176"/>
            <a:ext cx="10725912" cy="77724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68680" y="4974336"/>
            <a:ext cx="502920" cy="502920"/>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68680" y="5020056"/>
            <a:ext cx="502920" cy="411480"/>
          </a:xfrm>
          <a:prstGeom prst="rect">
            <a:avLst/>
          </a:prstGeom>
          <a:noFill/>
        </p:spPr>
        <p:txBody>
          <a:bodyPr wrap="none" lIns="0" tIns="0" rIns="0" bIns="0">
            <a:spAutoFit/>
          </a:bodyPr>
          <a:lstStyle/>
          <a:p>
            <a:pPr algn="ctr"/>
            <a:r>
              <a:rPr sz="1600" b="1">
                <a:solidFill>
                  <a:srgbClr val="1D4ED8"/>
                </a:solidFill>
                <a:latin typeface="Segoe UI"/>
              </a:rPr>
              <a:t>5</a:t>
            </a:r>
          </a:p>
        </p:txBody>
      </p:sp>
      <p:sp>
        <p:nvSpPr>
          <p:cNvPr id="26" name="TextBox 25"/>
          <p:cNvSpPr txBox="1"/>
          <p:nvPr/>
        </p:nvSpPr>
        <p:spPr>
          <a:xfrm>
            <a:off x="1508760" y="4946904"/>
            <a:ext cx="9692640" cy="594360"/>
          </a:xfrm>
          <a:prstGeom prst="rect">
            <a:avLst/>
          </a:prstGeom>
          <a:noFill/>
        </p:spPr>
        <p:txBody>
          <a:bodyPr wrap="square" lIns="0" tIns="0" rIns="0" bIns="0">
            <a:spAutoFit/>
          </a:bodyPr>
          <a:lstStyle/>
          <a:p>
            <a:pPr algn="l">
              <a:spcAft>
                <a:spcPts val="300"/>
              </a:spcAft>
            </a:pPr>
            <a:r>
              <a:rPr sz="1300" b="1">
                <a:solidFill>
                  <a:srgbClr val="0F172A"/>
                </a:solidFill>
                <a:latin typeface="Segoe UI"/>
              </a:rPr>
              <a:t>Multi-Core Scale-Out Telemetry</a:t>
            </a:r>
          </a:p>
          <a:p>
            <a:pPr algn="l"/>
            <a:r>
              <a:rPr sz="1050" b="0">
                <a:solidFill>
                  <a:srgbClr val="334155"/>
                </a:solidFill>
                <a:latin typeface="Segoe UI"/>
              </a:rPr>
              <a:t>Comprehensive hardware metrics including total execution clock cycles, speculation stack peak depth, and core-by-core utilization across 1 to 10 cores.</a:t>
            </a:r>
          </a:p>
        </p:txBody>
      </p:sp>
      <p:sp>
        <p:nvSpPr>
          <p:cNvPr id="27" name="Rounded Rectangle 26"/>
          <p:cNvSpPr/>
          <p:nvPr/>
        </p:nvSpPr>
        <p:spPr>
          <a:xfrm>
            <a:off x="731520" y="5779008"/>
            <a:ext cx="10725912" cy="530352"/>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914400" y="5833872"/>
            <a:ext cx="10332720" cy="411480"/>
          </a:xfrm>
          <a:prstGeom prst="rect">
            <a:avLst/>
          </a:prstGeom>
          <a:noFill/>
        </p:spPr>
        <p:txBody>
          <a:bodyPr wrap="square" lIns="0" tIns="0" rIns="0" bIns="0">
            <a:spAutoFit/>
          </a:bodyPr>
          <a:lstStyle/>
          <a:p>
            <a:pPr algn="l"/>
            <a:r>
              <a:rPr sz="1050" b="1">
                <a:solidFill>
                  <a:srgbClr val="0F172A"/>
                </a:solidFill>
                <a:latin typeface="Segoe UI"/>
              </a:rPr>
              <a:t>Output Highlights: Real-time pattern detection at 300 MHz with deterministic memory consumption, instant sub-millisecond compilation, and zero state explosion.</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7. Steps involved in the proposed method to convert given input into output</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The end-to-end flow from high-level regular expression to hardware match detection.</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8</a:t>
            </a:r>
          </a:p>
        </p:txBody>
      </p:sp>
      <p:sp>
        <p:nvSpPr>
          <p:cNvPr id="7" name="Rounded Rectangle 6"/>
          <p:cNvSpPr/>
          <p:nvPr/>
        </p:nvSpPr>
        <p:spPr>
          <a:xfrm>
            <a:off x="731520" y="13258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ounded Rectangle 7"/>
          <p:cNvSpPr/>
          <p:nvPr/>
        </p:nvSpPr>
        <p:spPr>
          <a:xfrm>
            <a:off x="841248" y="14356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41248" y="1463040"/>
            <a:ext cx="347472" cy="292608"/>
          </a:xfrm>
          <a:prstGeom prst="rect">
            <a:avLst/>
          </a:prstGeom>
          <a:noFill/>
        </p:spPr>
        <p:txBody>
          <a:bodyPr wrap="none" lIns="0" tIns="0" rIns="0" bIns="0">
            <a:spAutoFit/>
          </a:bodyPr>
          <a:lstStyle/>
          <a:p>
            <a:pPr algn="ctr"/>
            <a:r>
              <a:rPr sz="1200" b="1">
                <a:solidFill>
                  <a:srgbClr val="1D4ED8"/>
                </a:solidFill>
                <a:latin typeface="Segoe UI"/>
              </a:rPr>
              <a:t>1</a:t>
            </a:r>
          </a:p>
        </p:txBody>
      </p:sp>
      <p:sp>
        <p:nvSpPr>
          <p:cNvPr id="10" name="TextBox 9"/>
          <p:cNvSpPr txBox="1"/>
          <p:nvPr/>
        </p:nvSpPr>
        <p:spPr>
          <a:xfrm>
            <a:off x="1261872" y="14356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Parse RE Syntax</a:t>
            </a:r>
          </a:p>
          <a:p>
            <a:pPr algn="l"/>
            <a:r>
              <a:rPr sz="950" b="0">
                <a:solidFill>
                  <a:srgbClr val="334155"/>
                </a:solidFill>
                <a:latin typeface="Segoe UI"/>
              </a:rPr>
              <a:t>FLEX lexer &amp; BISON parser convert PCRE expressions into an Abstract Syntax Tree (AST).</a:t>
            </a:r>
          </a:p>
        </p:txBody>
      </p:sp>
      <p:sp>
        <p:nvSpPr>
          <p:cNvPr id="11" name="Rounded Rectangle 10"/>
          <p:cNvSpPr/>
          <p:nvPr/>
        </p:nvSpPr>
        <p:spPr>
          <a:xfrm>
            <a:off x="3465576" y="13258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ounded Rectangle 11"/>
          <p:cNvSpPr/>
          <p:nvPr/>
        </p:nvSpPr>
        <p:spPr>
          <a:xfrm>
            <a:off x="3575304" y="14356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3575304" y="1463040"/>
            <a:ext cx="347472" cy="292608"/>
          </a:xfrm>
          <a:prstGeom prst="rect">
            <a:avLst/>
          </a:prstGeom>
          <a:noFill/>
        </p:spPr>
        <p:txBody>
          <a:bodyPr wrap="none" lIns="0" tIns="0" rIns="0" bIns="0">
            <a:spAutoFit/>
          </a:bodyPr>
          <a:lstStyle/>
          <a:p>
            <a:pPr algn="ctr"/>
            <a:r>
              <a:rPr sz="1200" b="1">
                <a:solidFill>
                  <a:srgbClr val="1D4ED8"/>
                </a:solidFill>
                <a:latin typeface="Segoe UI"/>
              </a:rPr>
              <a:t>2</a:t>
            </a:r>
          </a:p>
        </p:txBody>
      </p:sp>
      <p:sp>
        <p:nvSpPr>
          <p:cNvPr id="14" name="TextBox 13"/>
          <p:cNvSpPr txBox="1"/>
          <p:nvPr/>
        </p:nvSpPr>
        <p:spPr>
          <a:xfrm>
            <a:off x="3995928" y="14356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Optimize AST</a:t>
            </a:r>
          </a:p>
          <a:p>
            <a:pPr algn="l"/>
            <a:r>
              <a:rPr sz="950" b="0">
                <a:solidFill>
                  <a:srgbClr val="334155"/>
                </a:solidFill>
                <a:latin typeface="Segoe UI"/>
              </a:rPr>
              <a:t>AST simplification, merging character ranges and pruning redundant sub-expressions.</a:t>
            </a:r>
          </a:p>
        </p:txBody>
      </p:sp>
      <p:sp>
        <p:nvSpPr>
          <p:cNvPr id="15" name="Rounded Rectangle 14"/>
          <p:cNvSpPr/>
          <p:nvPr/>
        </p:nvSpPr>
        <p:spPr>
          <a:xfrm>
            <a:off x="6199632" y="13258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ounded Rectangle 15"/>
          <p:cNvSpPr/>
          <p:nvPr/>
        </p:nvSpPr>
        <p:spPr>
          <a:xfrm>
            <a:off x="6309360" y="14356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309360" y="1463040"/>
            <a:ext cx="347472" cy="292608"/>
          </a:xfrm>
          <a:prstGeom prst="rect">
            <a:avLst/>
          </a:prstGeom>
          <a:noFill/>
        </p:spPr>
        <p:txBody>
          <a:bodyPr wrap="none" lIns="0" tIns="0" rIns="0" bIns="0">
            <a:spAutoFit/>
          </a:bodyPr>
          <a:lstStyle/>
          <a:p>
            <a:pPr algn="ctr"/>
            <a:r>
              <a:rPr sz="1200" b="1">
                <a:solidFill>
                  <a:srgbClr val="1D4ED8"/>
                </a:solidFill>
                <a:latin typeface="Segoe UI"/>
              </a:rPr>
              <a:t>3</a:t>
            </a:r>
          </a:p>
        </p:txBody>
      </p:sp>
      <p:sp>
        <p:nvSpPr>
          <p:cNvPr id="18" name="TextBox 17"/>
          <p:cNvSpPr txBox="1"/>
          <p:nvPr/>
        </p:nvSpPr>
        <p:spPr>
          <a:xfrm>
            <a:off x="6729984" y="14356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Emit 43-bit Binary</a:t>
            </a:r>
          </a:p>
          <a:p>
            <a:pPr algn="l"/>
            <a:r>
              <a:rPr sz="950" b="0">
                <a:solidFill>
                  <a:srgbClr val="334155"/>
                </a:solidFill>
                <a:latin typeface="Segoe UI"/>
              </a:rPr>
              <a:t>C compiler generates custom RISC machine code in linear time &amp; space O(N).</a:t>
            </a:r>
          </a:p>
        </p:txBody>
      </p:sp>
      <p:sp>
        <p:nvSpPr>
          <p:cNvPr id="19" name="Rounded Rectangle 18"/>
          <p:cNvSpPr/>
          <p:nvPr/>
        </p:nvSpPr>
        <p:spPr>
          <a:xfrm>
            <a:off x="8933688" y="13258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ounded Rectangle 19"/>
          <p:cNvSpPr/>
          <p:nvPr/>
        </p:nvSpPr>
        <p:spPr>
          <a:xfrm>
            <a:off x="9043416" y="14356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9043416" y="1463040"/>
            <a:ext cx="347472" cy="292608"/>
          </a:xfrm>
          <a:prstGeom prst="rect">
            <a:avLst/>
          </a:prstGeom>
          <a:noFill/>
        </p:spPr>
        <p:txBody>
          <a:bodyPr wrap="none" lIns="0" tIns="0" rIns="0" bIns="0">
            <a:spAutoFit/>
          </a:bodyPr>
          <a:lstStyle/>
          <a:p>
            <a:pPr algn="ctr"/>
            <a:r>
              <a:rPr sz="1200" b="1">
                <a:solidFill>
                  <a:srgbClr val="1D4ED8"/>
                </a:solidFill>
                <a:latin typeface="Segoe UI"/>
              </a:rPr>
              <a:t>4</a:t>
            </a:r>
          </a:p>
        </p:txBody>
      </p:sp>
      <p:sp>
        <p:nvSpPr>
          <p:cNvPr id="22" name="TextBox 21"/>
          <p:cNvSpPr txBox="1"/>
          <p:nvPr/>
        </p:nvSpPr>
        <p:spPr>
          <a:xfrm>
            <a:off x="9464040" y="14356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Load Instructions</a:t>
            </a:r>
          </a:p>
          <a:p>
            <a:pPr algn="l"/>
            <a:r>
              <a:rPr sz="950" b="0">
                <a:solidFill>
                  <a:srgbClr val="334155"/>
                </a:solidFill>
                <a:latin typeface="Segoe UI"/>
              </a:rPr>
              <a:t>Binary program loaded into FPGA on-chip instruction memory (BRAM).</a:t>
            </a:r>
          </a:p>
        </p:txBody>
      </p:sp>
      <p:sp>
        <p:nvSpPr>
          <p:cNvPr id="23" name="Rounded Rectangle 22"/>
          <p:cNvSpPr/>
          <p:nvPr/>
        </p:nvSpPr>
        <p:spPr>
          <a:xfrm>
            <a:off x="731520" y="31546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ounded Rectangle 23"/>
          <p:cNvSpPr/>
          <p:nvPr/>
        </p:nvSpPr>
        <p:spPr>
          <a:xfrm>
            <a:off x="841248" y="32644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1248" y="3291840"/>
            <a:ext cx="347472" cy="292608"/>
          </a:xfrm>
          <a:prstGeom prst="rect">
            <a:avLst/>
          </a:prstGeom>
          <a:noFill/>
        </p:spPr>
        <p:txBody>
          <a:bodyPr wrap="none" lIns="0" tIns="0" rIns="0" bIns="0">
            <a:spAutoFit/>
          </a:bodyPr>
          <a:lstStyle/>
          <a:p>
            <a:pPr algn="ctr"/>
            <a:r>
              <a:rPr sz="1200" b="1">
                <a:solidFill>
                  <a:srgbClr val="1D4ED8"/>
                </a:solidFill>
                <a:latin typeface="Segoe UI"/>
              </a:rPr>
              <a:t>5</a:t>
            </a:r>
          </a:p>
        </p:txBody>
      </p:sp>
      <p:sp>
        <p:nvSpPr>
          <p:cNvPr id="26" name="TextBox 25"/>
          <p:cNvSpPr txBox="1"/>
          <p:nvPr/>
        </p:nvSpPr>
        <p:spPr>
          <a:xfrm>
            <a:off x="1261872" y="32644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Stream Target Data</a:t>
            </a:r>
          </a:p>
          <a:p>
            <a:pPr algn="l"/>
            <a:r>
              <a:rPr sz="950" b="0">
                <a:solidFill>
                  <a:srgbClr val="334155"/>
                </a:solidFill>
                <a:latin typeface="Segoe UI"/>
              </a:rPr>
              <a:t>16 KB payload chunks streamed into hardware input buffers via AXI interfaces.</a:t>
            </a:r>
          </a:p>
        </p:txBody>
      </p:sp>
      <p:sp>
        <p:nvSpPr>
          <p:cNvPr id="27" name="Rounded Rectangle 26"/>
          <p:cNvSpPr/>
          <p:nvPr/>
        </p:nvSpPr>
        <p:spPr>
          <a:xfrm>
            <a:off x="3465576" y="31546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ounded Rectangle 27"/>
          <p:cNvSpPr/>
          <p:nvPr/>
        </p:nvSpPr>
        <p:spPr>
          <a:xfrm>
            <a:off x="3575304" y="32644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3575304" y="3291840"/>
            <a:ext cx="347472" cy="292608"/>
          </a:xfrm>
          <a:prstGeom prst="rect">
            <a:avLst/>
          </a:prstGeom>
          <a:noFill/>
        </p:spPr>
        <p:txBody>
          <a:bodyPr wrap="none" lIns="0" tIns="0" rIns="0" bIns="0">
            <a:spAutoFit/>
          </a:bodyPr>
          <a:lstStyle/>
          <a:p>
            <a:pPr algn="ctr"/>
            <a:r>
              <a:rPr sz="1200" b="1">
                <a:solidFill>
                  <a:srgbClr val="1D4ED8"/>
                </a:solidFill>
                <a:latin typeface="Segoe UI"/>
              </a:rPr>
              <a:t>6</a:t>
            </a:r>
          </a:p>
        </p:txBody>
      </p:sp>
      <p:sp>
        <p:nvSpPr>
          <p:cNvPr id="30" name="TextBox 29"/>
          <p:cNvSpPr txBox="1"/>
          <p:nvPr/>
        </p:nvSpPr>
        <p:spPr>
          <a:xfrm>
            <a:off x="3995928" y="32644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3-Way Decode</a:t>
            </a:r>
          </a:p>
          <a:p>
            <a:pPr algn="l"/>
            <a:r>
              <a:rPr sz="950" b="0">
                <a:solidFill>
                  <a:srgbClr val="334155"/>
                </a:solidFill>
                <a:latin typeface="Segoe UI"/>
              </a:rPr>
              <a:t>3 Decode Units dispatch instructions in parallel to Vector Compute Units (VCUs).</a:t>
            </a:r>
          </a:p>
        </p:txBody>
      </p:sp>
      <p:sp>
        <p:nvSpPr>
          <p:cNvPr id="31" name="Rounded Rectangle 30"/>
          <p:cNvSpPr/>
          <p:nvPr/>
        </p:nvSpPr>
        <p:spPr>
          <a:xfrm>
            <a:off x="6199632" y="31546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ounded Rectangle 31"/>
          <p:cNvSpPr/>
          <p:nvPr/>
        </p:nvSpPr>
        <p:spPr>
          <a:xfrm>
            <a:off x="6309360" y="32644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6309360" y="3291840"/>
            <a:ext cx="347472" cy="292608"/>
          </a:xfrm>
          <a:prstGeom prst="rect">
            <a:avLst/>
          </a:prstGeom>
          <a:noFill/>
        </p:spPr>
        <p:txBody>
          <a:bodyPr wrap="none" lIns="0" tIns="0" rIns="0" bIns="0">
            <a:spAutoFit/>
          </a:bodyPr>
          <a:lstStyle/>
          <a:p>
            <a:pPr algn="ctr"/>
            <a:r>
              <a:rPr sz="1200" b="1">
                <a:solidFill>
                  <a:srgbClr val="1D4ED8"/>
                </a:solidFill>
                <a:latin typeface="Segoe UI"/>
              </a:rPr>
              <a:t>7</a:t>
            </a:r>
          </a:p>
        </p:txBody>
      </p:sp>
      <p:sp>
        <p:nvSpPr>
          <p:cNvPr id="34" name="TextBox 33"/>
          <p:cNvSpPr txBox="1"/>
          <p:nvPr/>
        </p:nvSpPr>
        <p:spPr>
          <a:xfrm>
            <a:off x="6729984" y="32644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Speculative Match</a:t>
            </a:r>
          </a:p>
          <a:p>
            <a:pPr algn="l"/>
            <a:r>
              <a:rPr sz="950" b="0">
                <a:solidFill>
                  <a:srgbClr val="334155"/>
                </a:solidFill>
                <a:latin typeface="Segoe UI"/>
              </a:rPr>
              <a:t>Speculation Stack checkpoints states during quantifiers/alternations; auto-backtracks on mismatch.</a:t>
            </a:r>
          </a:p>
        </p:txBody>
      </p:sp>
      <p:sp>
        <p:nvSpPr>
          <p:cNvPr id="35" name="Rounded Rectangle 34"/>
          <p:cNvSpPr/>
          <p:nvPr/>
        </p:nvSpPr>
        <p:spPr>
          <a:xfrm>
            <a:off x="8933688" y="3154680"/>
            <a:ext cx="2487168" cy="16459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Rounded Rectangle 35"/>
          <p:cNvSpPr/>
          <p:nvPr/>
        </p:nvSpPr>
        <p:spPr>
          <a:xfrm>
            <a:off x="9043416" y="3264408"/>
            <a:ext cx="347472" cy="347472"/>
          </a:xfrm>
          <a:prstGeom prst="roundRect">
            <a:avLst/>
          </a:prstGeom>
          <a:solidFill>
            <a:srgbClr val="EFF6FF"/>
          </a:solidFill>
          <a:ln w="12700">
            <a:solidFill>
              <a:srgbClr val="BFDB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9043416" y="3291840"/>
            <a:ext cx="347472" cy="292608"/>
          </a:xfrm>
          <a:prstGeom prst="rect">
            <a:avLst/>
          </a:prstGeom>
          <a:noFill/>
        </p:spPr>
        <p:txBody>
          <a:bodyPr wrap="none" lIns="0" tIns="0" rIns="0" bIns="0">
            <a:spAutoFit/>
          </a:bodyPr>
          <a:lstStyle/>
          <a:p>
            <a:pPr algn="ctr"/>
            <a:r>
              <a:rPr sz="1200" b="1">
                <a:solidFill>
                  <a:srgbClr val="1D4ED8"/>
                </a:solidFill>
                <a:latin typeface="Segoe UI"/>
              </a:rPr>
              <a:t>8</a:t>
            </a:r>
          </a:p>
        </p:txBody>
      </p:sp>
      <p:sp>
        <p:nvSpPr>
          <p:cNvPr id="38" name="TextBox 37"/>
          <p:cNvSpPr txBox="1"/>
          <p:nvPr/>
        </p:nvSpPr>
        <p:spPr>
          <a:xfrm>
            <a:off x="9464040" y="3264408"/>
            <a:ext cx="1847088" cy="1463040"/>
          </a:xfrm>
          <a:prstGeom prst="rect">
            <a:avLst/>
          </a:prstGeom>
          <a:noFill/>
        </p:spPr>
        <p:txBody>
          <a:bodyPr wrap="square" lIns="0" tIns="0" rIns="0" bIns="0">
            <a:spAutoFit/>
          </a:bodyPr>
          <a:lstStyle/>
          <a:p>
            <a:pPr algn="l">
              <a:spcAft>
                <a:spcPts val="300"/>
              </a:spcAft>
            </a:pPr>
            <a:r>
              <a:rPr sz="1150" b="1">
                <a:solidFill>
                  <a:srgbClr val="0F172A"/>
                </a:solidFill>
                <a:latin typeface="Segoe UI"/>
              </a:rPr>
              <a:t>Report Match Results</a:t>
            </a:r>
          </a:p>
          <a:p>
            <a:pPr algn="l"/>
            <a:r>
              <a:rPr sz="950" b="0">
                <a:solidFill>
                  <a:srgbClr val="334155"/>
                </a:solidFill>
                <a:latin typeface="Segoe UI"/>
              </a:rPr>
              <a:t>Hardware asserts match flag, outputs start/end byte offsets, and advances stream.</a:t>
            </a:r>
          </a:p>
        </p:txBody>
      </p:sp>
      <p:sp>
        <p:nvSpPr>
          <p:cNvPr id="39" name="Rounded Rectangle 38"/>
          <p:cNvSpPr/>
          <p:nvPr/>
        </p:nvSpPr>
        <p:spPr>
          <a:xfrm>
            <a:off x="731520" y="4983480"/>
            <a:ext cx="5230368" cy="123444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914400" y="5074920"/>
            <a:ext cx="4846320" cy="1051560"/>
          </a:xfrm>
          <a:prstGeom prst="rect">
            <a:avLst/>
          </a:prstGeom>
          <a:noFill/>
        </p:spPr>
        <p:txBody>
          <a:bodyPr wrap="square" lIns="0" tIns="0" rIns="0" bIns="0">
            <a:spAutoFit/>
          </a:bodyPr>
          <a:lstStyle/>
          <a:p>
            <a:pPr algn="l">
              <a:spcAft>
                <a:spcPts val="300"/>
              </a:spcAft>
            </a:pPr>
            <a:r>
              <a:rPr sz="1100" b="1">
                <a:solidFill>
                  <a:srgbClr val="0F172A"/>
                </a:solidFill>
                <a:latin typeface="Segoe UI"/>
              </a:rPr>
              <a:t>Hardware Backtracking Mechanism:</a:t>
            </a:r>
          </a:p>
          <a:p>
            <a:pPr algn="l"/>
            <a:r>
              <a:rPr sz="950" b="0">
                <a:solidFill>
                  <a:srgbClr val="334155"/>
                </a:solidFill>
                <a:latin typeface="Segoe UI"/>
              </a:rPr>
              <a:t>When a speculative branch fails, the core restores previous character pointers and state in a single clock cycle directly from the Speculation Stack, eliminating software interrupt latency.</a:t>
            </a:r>
          </a:p>
        </p:txBody>
      </p:sp>
      <p:sp>
        <p:nvSpPr>
          <p:cNvPr id="41" name="Rounded Rectangle 40"/>
          <p:cNvSpPr/>
          <p:nvPr/>
        </p:nvSpPr>
        <p:spPr>
          <a:xfrm>
            <a:off x="6227064" y="4983480"/>
            <a:ext cx="5230368" cy="123444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9944" y="5074920"/>
            <a:ext cx="4846320" cy="1051560"/>
          </a:xfrm>
          <a:prstGeom prst="rect">
            <a:avLst/>
          </a:prstGeom>
          <a:noFill/>
        </p:spPr>
        <p:txBody>
          <a:bodyPr wrap="square" lIns="0" tIns="0" rIns="0" bIns="0">
            <a:spAutoFit/>
          </a:bodyPr>
          <a:lstStyle/>
          <a:p>
            <a:pPr algn="l">
              <a:spcAft>
                <a:spcPts val="300"/>
              </a:spcAft>
            </a:pPr>
            <a:r>
              <a:rPr sz="1100" b="1">
                <a:solidFill>
                  <a:srgbClr val="0F172A"/>
                </a:solidFill>
                <a:latin typeface="Segoe UI"/>
              </a:rPr>
              <a:t>Linear-Time Compilation Pipeline:</a:t>
            </a:r>
          </a:p>
          <a:p>
            <a:pPr algn="l"/>
            <a:r>
              <a:rPr sz="950" b="0">
                <a:solidFill>
                  <a:srgbClr val="334155"/>
                </a:solidFill>
                <a:latin typeface="Segoe UI"/>
              </a:rPr>
              <a:t>Unlike DFAs which suffer catastrophic exponential memory growth during compilation, ALVEARE compiles in O(N) linear time and space, enabling fast dynamic rule loading at runtime.</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Evaluation: what did the authors find?</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Benchmarking against state-of-the-art CPU, GPU, DPU, and server engines on ANMLZoo.</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9</a:t>
            </a:r>
          </a:p>
        </p:txBody>
      </p:sp>
      <p:graphicFrame>
        <p:nvGraphicFramePr>
          <p:cNvPr id="7" name="Table 6"/>
          <p:cNvGraphicFramePr>
            <a:graphicFrameLocks noGrp="1"/>
          </p:cNvGraphicFramePr>
          <p:nvPr/>
        </p:nvGraphicFramePr>
        <p:xfrm>
          <a:off x="731520" y="1325880"/>
          <a:ext cx="10725912" cy="2468880"/>
        </p:xfrm>
        <a:graphic>
          <a:graphicData uri="http://schemas.openxmlformats.org/drawingml/2006/table">
            <a:tbl>
              <a:tblPr firstRow="1" bandRow="1">
                <a:tableStyleId>{5C22544A-7EE6-4342-B048-85BDC9FD1C3A}</a:tableStyleId>
              </a:tblPr>
              <a:tblGrid>
                <a:gridCol w="2926080"/>
                <a:gridCol w="1920240"/>
                <a:gridCol w="2011680"/>
                <a:gridCol w="1920240"/>
                <a:gridCol w="1947672"/>
              </a:tblGrid>
              <a:tr h="411480">
                <a:tc>
                  <a:txBody>
                    <a:bodyPr/>
                    <a:lstStyle/>
                    <a:p>
                      <a:pPr algn="l">
                        <a:defRPr sz="1100" b="1">
                          <a:solidFill>
                            <a:srgbClr val="FFFFFF"/>
                          </a:solidFill>
                          <a:latin typeface="Segoe UI"/>
                        </a:defRPr>
                      </a:pPr>
                      <a:r>
                        <a:t>System / Engine</a:t>
                      </a:r>
                    </a:p>
                  </a:txBody>
                  <a:tcPr>
                    <a:solidFill>
                      <a:srgbClr val="0F172A"/>
                    </a:solidFill>
                  </a:tcPr>
                </a:tc>
                <a:tc>
                  <a:txBody>
                    <a:bodyPr/>
                    <a:lstStyle/>
                    <a:p>
                      <a:pPr algn="ctr">
                        <a:defRPr sz="1100" b="1">
                          <a:solidFill>
                            <a:srgbClr val="FFFFFF"/>
                          </a:solidFill>
                          <a:latin typeface="Segoe UI"/>
                        </a:defRPr>
                      </a:pPr>
                      <a:r>
                        <a:t>Speedup vs Baseline</a:t>
                      </a:r>
                    </a:p>
                  </a:txBody>
                  <a:tcPr>
                    <a:solidFill>
                      <a:srgbClr val="0F172A"/>
                    </a:solidFill>
                  </a:tcPr>
                </a:tc>
                <a:tc>
                  <a:txBody>
                    <a:bodyPr/>
                    <a:lstStyle/>
                    <a:p>
                      <a:pPr algn="ctr">
                        <a:defRPr sz="1100" b="1">
                          <a:solidFill>
                            <a:srgbClr val="FFFFFF"/>
                          </a:solidFill>
                          <a:latin typeface="Segoe UI"/>
                        </a:defRPr>
                      </a:pPr>
                      <a:r>
                        <a:t>Energy Efficiency Gain</a:t>
                      </a:r>
                    </a:p>
                  </a:txBody>
                  <a:tcPr>
                    <a:solidFill>
                      <a:srgbClr val="0F172A"/>
                    </a:solidFill>
                  </a:tcPr>
                </a:tc>
                <a:tc>
                  <a:txBody>
                    <a:bodyPr/>
                    <a:lstStyle/>
                    <a:p>
                      <a:pPr algn="ctr">
                        <a:defRPr sz="1100" b="1">
                          <a:solidFill>
                            <a:srgbClr val="FFFFFF"/>
                          </a:solidFill>
                          <a:latin typeface="Segoe UI"/>
                        </a:defRPr>
                      </a:pPr>
                      <a:r>
                        <a:t>Compilation Time</a:t>
                      </a:r>
                    </a:p>
                  </a:txBody>
                  <a:tcPr>
                    <a:solidFill>
                      <a:srgbClr val="0F172A"/>
                    </a:solidFill>
                  </a:tcPr>
                </a:tc>
                <a:tc>
                  <a:txBody>
                    <a:bodyPr/>
                    <a:lstStyle/>
                    <a:p>
                      <a:pPr algn="ctr">
                        <a:defRPr sz="1100" b="1">
                          <a:solidFill>
                            <a:srgbClr val="FFFFFF"/>
                          </a:solidFill>
                          <a:latin typeface="Segoe UI"/>
                        </a:defRPr>
                      </a:pPr>
                      <a:r>
                        <a:t>Operator Support</a:t>
                      </a:r>
                    </a:p>
                  </a:txBody>
                  <a:tcPr>
                    <a:solidFill>
                      <a:srgbClr val="0F172A"/>
                    </a:solidFill>
                  </a:tcPr>
                </a:tc>
              </a:tr>
              <a:tr h="411480">
                <a:tc>
                  <a:txBody>
                    <a:bodyPr/>
                    <a:lstStyle/>
                    <a:p>
                      <a:pPr algn="l">
                        <a:defRPr sz="1000" b="1">
                          <a:solidFill>
                            <a:srgbClr val="0F172A"/>
                          </a:solidFill>
                          <a:latin typeface="Segoe UI"/>
                        </a:defRPr>
                      </a:pPr>
                      <a:r>
                        <a:t>ALVEARE (1-10 Cores @ 300MHz, FPGA)</a:t>
                      </a:r>
                    </a:p>
                  </a:txBody>
                  <a:tcPr>
                    <a:solidFill>
                      <a:srgbClr val="EFF6FF"/>
                    </a:solidFill>
                  </a:tcPr>
                </a:tc>
                <a:tc>
                  <a:txBody>
                    <a:bodyPr/>
                    <a:lstStyle/>
                    <a:p>
                      <a:pPr algn="ctr">
                        <a:defRPr sz="1000" b="1">
                          <a:solidFill>
                            <a:srgbClr val="1D4ED8"/>
                          </a:solidFill>
                          <a:latin typeface="Segoe UI"/>
                        </a:defRPr>
                      </a:pPr>
                      <a:r>
                        <a:t>Up to 34x faster</a:t>
                      </a:r>
                    </a:p>
                  </a:txBody>
                  <a:tcPr>
                    <a:solidFill>
                      <a:srgbClr val="EFF6FF"/>
                    </a:solidFill>
                  </a:tcPr>
                </a:tc>
                <a:tc>
                  <a:txBody>
                    <a:bodyPr/>
                    <a:lstStyle/>
                    <a:p>
                      <a:pPr algn="ctr">
                        <a:defRPr sz="1000" b="1">
                          <a:solidFill>
                            <a:srgbClr val="1D4ED8"/>
                          </a:solidFill>
                          <a:latin typeface="Segoe UI"/>
                        </a:defRPr>
                      </a:pPr>
                      <a:r>
                        <a:t>17x – 57x higher</a:t>
                      </a:r>
                    </a:p>
                  </a:txBody>
                  <a:tcPr>
                    <a:solidFill>
                      <a:srgbClr val="EFF6FF"/>
                    </a:solidFill>
                  </a:tcPr>
                </a:tc>
                <a:tc>
                  <a:txBody>
                    <a:bodyPr/>
                    <a:lstStyle/>
                    <a:p>
                      <a:pPr algn="ctr">
                        <a:defRPr sz="1000" b="1">
                          <a:solidFill>
                            <a:srgbClr val="1D4ED8"/>
                          </a:solidFill>
                          <a:latin typeface="Segoe UI"/>
                        </a:defRPr>
                      </a:pPr>
                      <a:r>
                        <a:t>Sub-millisecond (Linear)</a:t>
                      </a:r>
                    </a:p>
                  </a:txBody>
                  <a:tcPr>
                    <a:solidFill>
                      <a:srgbClr val="EFF6FF"/>
                    </a:solidFill>
                  </a:tcPr>
                </a:tc>
                <a:tc>
                  <a:txBody>
                    <a:bodyPr/>
                    <a:lstStyle/>
                    <a:p>
                      <a:pPr algn="ctr">
                        <a:defRPr sz="1000" b="1">
                          <a:solidFill>
                            <a:srgbClr val="1D4ED8"/>
                          </a:solidFill>
                          <a:latin typeface="Segoe UI"/>
                        </a:defRPr>
                      </a:pPr>
                      <a:r>
                        <a:t>Broad (Classes, Quantifiers, Bounds)</a:t>
                      </a:r>
                    </a:p>
                  </a:txBody>
                  <a:tcPr>
                    <a:solidFill>
                      <a:srgbClr val="EFF6FF"/>
                    </a:solidFill>
                  </a:tcPr>
                </a:tc>
              </a:tr>
              <a:tr h="411480">
                <a:tc>
                  <a:txBody>
                    <a:bodyPr/>
                    <a:lstStyle/>
                    <a:p>
                      <a:pPr algn="l">
                        <a:defRPr sz="1000">
                          <a:solidFill>
                            <a:srgbClr val="334155"/>
                          </a:solidFill>
                          <a:latin typeface="Segoe UI"/>
                        </a:defRPr>
                      </a:pPr>
                      <a:r>
                        <a:t>Google RE2 (ARM Cortex-A53 SoC)</a:t>
                      </a:r>
                    </a:p>
                  </a:txBody>
                  <a:tcPr>
                    <a:solidFill>
                      <a:srgbClr val="FFFFFF"/>
                    </a:solidFill>
                  </a:tcPr>
                </a:tc>
                <a:tc>
                  <a:txBody>
                    <a:bodyPr/>
                    <a:lstStyle/>
                    <a:p>
                      <a:pPr algn="ctr">
                        <a:defRPr sz="1000">
                          <a:solidFill>
                            <a:srgbClr val="334155"/>
                          </a:solidFill>
                          <a:latin typeface="Segoe UI"/>
                        </a:defRPr>
                      </a:pPr>
                      <a:r>
                        <a:t>1.0x (Baseline CPU)</a:t>
                      </a:r>
                    </a:p>
                  </a:txBody>
                  <a:tcPr>
                    <a:solidFill>
                      <a:srgbClr val="FFFFFF"/>
                    </a:solidFill>
                  </a:tcPr>
                </a:tc>
                <a:tc>
                  <a:txBody>
                    <a:bodyPr/>
                    <a:lstStyle/>
                    <a:p>
                      <a:pPr algn="ctr">
                        <a:defRPr sz="1000">
                          <a:solidFill>
                            <a:srgbClr val="334155"/>
                          </a:solidFill>
                          <a:latin typeface="Segoe UI"/>
                        </a:defRPr>
                      </a:pPr>
                      <a:r>
                        <a:t>1.0x (Baseline)</a:t>
                      </a:r>
                    </a:p>
                  </a:txBody>
                  <a:tcPr>
                    <a:solidFill>
                      <a:srgbClr val="FFFFFF"/>
                    </a:solidFill>
                  </a:tcPr>
                </a:tc>
                <a:tc>
                  <a:txBody>
                    <a:bodyPr/>
                    <a:lstStyle/>
                    <a:p>
                      <a:pPr algn="ctr">
                        <a:defRPr sz="1000">
                          <a:solidFill>
                            <a:srgbClr val="334155"/>
                          </a:solidFill>
                          <a:latin typeface="Segoe UI"/>
                        </a:defRPr>
                      </a:pPr>
                      <a:r>
                        <a:t>Fast (Software AST)</a:t>
                      </a:r>
                    </a:p>
                  </a:txBody>
                  <a:tcPr>
                    <a:solidFill>
                      <a:srgbClr val="FFFFFF"/>
                    </a:solidFill>
                  </a:tcPr>
                </a:tc>
                <a:tc>
                  <a:txBody>
                    <a:bodyPr/>
                    <a:lstStyle/>
                    <a:p>
                      <a:pPr algn="ctr">
                        <a:defRPr sz="1000">
                          <a:solidFill>
                            <a:srgbClr val="334155"/>
                          </a:solidFill>
                          <a:latin typeface="Segoe UI"/>
                        </a:defRPr>
                      </a:pPr>
                      <a:r>
                        <a:t>Broad PCRE/POSIX</a:t>
                      </a:r>
                    </a:p>
                  </a:txBody>
                  <a:tcPr>
                    <a:solidFill>
                      <a:srgbClr val="FFFFFF"/>
                    </a:solidFill>
                  </a:tcPr>
                </a:tc>
              </a:tr>
              <a:tr h="411480">
                <a:tc>
                  <a:txBody>
                    <a:bodyPr/>
                    <a:lstStyle/>
                    <a:p>
                      <a:pPr algn="l">
                        <a:defRPr sz="1000">
                          <a:solidFill>
                            <a:srgbClr val="334155"/>
                          </a:solidFill>
                          <a:latin typeface="Segoe UI"/>
                        </a:defRPr>
                      </a:pPr>
                      <a:r>
                        <a:t>NVIDIA BlueField-2 DPU (Data Center)</a:t>
                      </a:r>
                    </a:p>
                  </a:txBody>
                  <a:tcPr>
                    <a:solidFill>
                      <a:srgbClr val="F1F5F9"/>
                    </a:solidFill>
                  </a:tcPr>
                </a:tc>
                <a:tc>
                  <a:txBody>
                    <a:bodyPr/>
                    <a:lstStyle/>
                    <a:p>
                      <a:pPr algn="ctr">
                        <a:defRPr sz="1000">
                          <a:solidFill>
                            <a:srgbClr val="334155"/>
                          </a:solidFill>
                          <a:latin typeface="Segoe UI"/>
                        </a:defRPr>
                      </a:pPr>
                      <a:r>
                        <a:t>0.8x – 1.8x</a:t>
                      </a:r>
                    </a:p>
                  </a:txBody>
                  <a:tcPr>
                    <a:solidFill>
                      <a:srgbClr val="F1F5F9"/>
                    </a:solidFill>
                  </a:tcPr>
                </a:tc>
                <a:tc>
                  <a:txBody>
                    <a:bodyPr/>
                    <a:lstStyle/>
                    <a:p>
                      <a:pPr algn="ctr">
                        <a:defRPr sz="1000">
                          <a:solidFill>
                            <a:srgbClr val="334155"/>
                          </a:solidFill>
                          <a:latin typeface="Segoe UI"/>
                        </a:defRPr>
                      </a:pPr>
                      <a:r>
                        <a:t>2.1x – 3.4x</a:t>
                      </a:r>
                    </a:p>
                  </a:txBody>
                  <a:tcPr>
                    <a:solidFill>
                      <a:srgbClr val="F1F5F9"/>
                    </a:solidFill>
                  </a:tcPr>
                </a:tc>
                <a:tc>
                  <a:txBody>
                    <a:bodyPr/>
                    <a:lstStyle/>
                    <a:p>
                      <a:pPr algn="ctr">
                        <a:defRPr sz="1000">
                          <a:solidFill>
                            <a:srgbClr val="334155"/>
                          </a:solidFill>
                          <a:latin typeface="Segoe UI"/>
                        </a:defRPr>
                      </a:pPr>
                      <a:r>
                        <a:t>Moderate</a:t>
                      </a:r>
                    </a:p>
                  </a:txBody>
                  <a:tcPr>
                    <a:solidFill>
                      <a:srgbClr val="F1F5F9"/>
                    </a:solidFill>
                  </a:tcPr>
                </a:tc>
                <a:tc>
                  <a:txBody>
                    <a:bodyPr/>
                    <a:lstStyle/>
                    <a:p>
                      <a:pPr algn="ctr">
                        <a:defRPr sz="1000">
                          <a:solidFill>
                            <a:srgbClr val="334155"/>
                          </a:solidFill>
                          <a:latin typeface="Segoe UI"/>
                        </a:defRPr>
                      </a:pPr>
                      <a:r>
                        <a:t>Broad PCRE/POSIX</a:t>
                      </a:r>
                    </a:p>
                  </a:txBody>
                  <a:tcPr>
                    <a:solidFill>
                      <a:srgbClr val="F1F5F9"/>
                    </a:solidFill>
                  </a:tcPr>
                </a:tc>
              </a:tr>
              <a:tr h="411480">
                <a:tc>
                  <a:txBody>
                    <a:bodyPr/>
                    <a:lstStyle/>
                    <a:p>
                      <a:pPr algn="l">
                        <a:defRPr sz="1000">
                          <a:solidFill>
                            <a:srgbClr val="334155"/>
                          </a:solidFill>
                          <a:latin typeface="Segoe UI"/>
                        </a:defRPr>
                      </a:pPr>
                      <a:r>
                        <a:t>GPU-based Matchers (NVIDIA CUDA)</a:t>
                      </a:r>
                    </a:p>
                  </a:txBody>
                  <a:tcPr>
                    <a:solidFill>
                      <a:srgbClr val="FFFFFF"/>
                    </a:solidFill>
                  </a:tcPr>
                </a:tc>
                <a:tc>
                  <a:txBody>
                    <a:bodyPr/>
                    <a:lstStyle/>
                    <a:p>
                      <a:pPr algn="ctr">
                        <a:defRPr sz="1000">
                          <a:solidFill>
                            <a:srgbClr val="334155"/>
                          </a:solidFill>
                          <a:latin typeface="Segoe UI"/>
                        </a:defRPr>
                      </a:pPr>
                      <a:r>
                        <a:t>0.05x – 0.1x (356x Slower)</a:t>
                      </a:r>
                    </a:p>
                  </a:txBody>
                  <a:tcPr>
                    <a:solidFill>
                      <a:srgbClr val="FFFFFF"/>
                    </a:solidFill>
                  </a:tcPr>
                </a:tc>
                <a:tc>
                  <a:txBody>
                    <a:bodyPr/>
                    <a:lstStyle/>
                    <a:p>
                      <a:pPr algn="ctr">
                        <a:defRPr sz="1000">
                          <a:solidFill>
                            <a:srgbClr val="334155"/>
                          </a:solidFill>
                          <a:latin typeface="Segoe UI"/>
                        </a:defRPr>
                      </a:pPr>
                      <a:r>
                        <a:t>Poor (High Wattage)</a:t>
                      </a:r>
                    </a:p>
                  </a:txBody>
                  <a:tcPr>
                    <a:solidFill>
                      <a:srgbClr val="FFFFFF"/>
                    </a:solidFill>
                  </a:tcPr>
                </a:tc>
                <a:tc>
                  <a:txBody>
                    <a:bodyPr/>
                    <a:lstStyle/>
                    <a:p>
                      <a:pPr algn="ctr">
                        <a:defRPr sz="1000">
                          <a:solidFill>
                            <a:srgbClr val="334155"/>
                          </a:solidFill>
                          <a:latin typeface="Segoe UI"/>
                        </a:defRPr>
                      </a:pPr>
                      <a:r>
                        <a:t>High (Kernel compilation)</a:t>
                      </a:r>
                    </a:p>
                  </a:txBody>
                  <a:tcPr>
                    <a:solidFill>
                      <a:srgbClr val="FFFFFF"/>
                    </a:solidFill>
                  </a:tcPr>
                </a:tc>
                <a:tc>
                  <a:txBody>
                    <a:bodyPr/>
                    <a:lstStyle/>
                    <a:p>
                      <a:pPr algn="ctr">
                        <a:defRPr sz="1000">
                          <a:solidFill>
                            <a:srgbClr val="334155"/>
                          </a:solidFill>
                          <a:latin typeface="Segoe UI"/>
                        </a:defRPr>
                      </a:pPr>
                      <a:r>
                        <a:t>Restricted (Severe divergence)</a:t>
                      </a:r>
                    </a:p>
                  </a:txBody>
                  <a:tcPr>
                    <a:solidFill>
                      <a:srgbClr val="FFFFFF"/>
                    </a:solidFill>
                  </a:tcPr>
                </a:tc>
              </a:tr>
              <a:tr h="411480">
                <a:tc>
                  <a:txBody>
                    <a:bodyPr/>
                    <a:lstStyle/>
                    <a:p>
                      <a:pPr algn="l">
                        <a:defRPr sz="1000">
                          <a:solidFill>
                            <a:srgbClr val="334155"/>
                          </a:solidFill>
                          <a:latin typeface="Segoe UI"/>
                        </a:defRPr>
                      </a:pPr>
                      <a:r>
                        <a:t>Intel Hyperscan (Intel Xeon Server)</a:t>
                      </a:r>
                    </a:p>
                  </a:txBody>
                  <a:tcPr>
                    <a:solidFill>
                      <a:srgbClr val="F1F5F9"/>
                    </a:solidFill>
                  </a:tcPr>
                </a:tc>
                <a:tc>
                  <a:txBody>
                    <a:bodyPr/>
                    <a:lstStyle/>
                    <a:p>
                      <a:pPr algn="ctr">
                        <a:defRPr sz="1000">
                          <a:solidFill>
                            <a:srgbClr val="334155"/>
                          </a:solidFill>
                          <a:latin typeface="Segoe UI"/>
                        </a:defRPr>
                      </a:pPr>
                      <a:r>
                        <a:t>Competitive Throughput</a:t>
                      </a:r>
                    </a:p>
                  </a:txBody>
                  <a:tcPr>
                    <a:solidFill>
                      <a:srgbClr val="F1F5F9"/>
                    </a:solidFill>
                  </a:tcPr>
                </a:tc>
                <a:tc>
                  <a:txBody>
                    <a:bodyPr/>
                    <a:lstStyle/>
                    <a:p>
                      <a:pPr algn="ctr">
                        <a:defRPr sz="1000">
                          <a:solidFill>
                            <a:srgbClr val="334155"/>
                          </a:solidFill>
                          <a:latin typeface="Segoe UI"/>
                        </a:defRPr>
                      </a:pPr>
                      <a:r>
                        <a:t>15x – 25x Worse Power</a:t>
                      </a:r>
                    </a:p>
                  </a:txBody>
                  <a:tcPr>
                    <a:solidFill>
                      <a:srgbClr val="F1F5F9"/>
                    </a:solidFill>
                  </a:tcPr>
                </a:tc>
                <a:tc>
                  <a:txBody>
                    <a:bodyPr/>
                    <a:lstStyle/>
                    <a:p>
                      <a:pPr algn="ctr">
                        <a:defRPr sz="1000">
                          <a:solidFill>
                            <a:srgbClr val="334155"/>
                          </a:solidFill>
                          <a:latin typeface="Segoe UI"/>
                        </a:defRPr>
                      </a:pPr>
                      <a:r>
                        <a:t>High (Heavy DFA/NFA build)</a:t>
                      </a:r>
                    </a:p>
                  </a:txBody>
                  <a:tcPr>
                    <a:solidFill>
                      <a:srgbClr val="F1F5F9"/>
                    </a:solidFill>
                  </a:tcPr>
                </a:tc>
                <a:tc>
                  <a:txBody>
                    <a:bodyPr/>
                    <a:lstStyle/>
                    <a:p>
                      <a:pPr algn="ctr">
                        <a:defRPr sz="1000">
                          <a:solidFill>
                            <a:srgbClr val="334155"/>
                          </a:solidFill>
                          <a:latin typeface="Segoe UI"/>
                        </a:defRPr>
                      </a:pPr>
                      <a:r>
                        <a:t>Restricted complex quantifiers</a:t>
                      </a:r>
                    </a:p>
                  </a:txBody>
                  <a:tcPr>
                    <a:solidFill>
                      <a:srgbClr val="F1F5F9"/>
                    </a:solidFill>
                  </a:tcPr>
                </a:tc>
              </a:tr>
            </a:tbl>
          </a:graphicData>
        </a:graphic>
      </p:graphicFrame>
      <p:sp>
        <p:nvSpPr>
          <p:cNvPr id="8" name="Rounded Rectangle 7"/>
          <p:cNvSpPr/>
          <p:nvPr/>
        </p:nvSpPr>
        <p:spPr>
          <a:xfrm>
            <a:off x="731520" y="3977639"/>
            <a:ext cx="5230368" cy="224028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960120" y="4069080"/>
            <a:ext cx="4754880" cy="2057400"/>
          </a:xfrm>
          <a:prstGeom prst="rect">
            <a:avLst/>
          </a:prstGeom>
          <a:noFill/>
        </p:spPr>
        <p:txBody>
          <a:bodyPr wrap="square" lIns="0" tIns="0" rIns="0" bIns="0">
            <a:spAutoFit/>
          </a:bodyPr>
          <a:lstStyle/>
          <a:p>
            <a:pPr algn="l">
              <a:spcAft>
                <a:spcPts val="400"/>
              </a:spcAft>
            </a:pPr>
            <a:r>
              <a:rPr sz="1250" b="1">
                <a:solidFill>
                  <a:srgbClr val="0F172A"/>
                </a:solidFill>
                <a:latin typeface="Segoe UI"/>
              </a:rPr>
              <a:t>Key Experimental Findings:</a:t>
            </a:r>
          </a:p>
          <a:p>
            <a:pPr algn="l"/>
            <a:r>
              <a:rPr sz="1000" b="0">
                <a:solidFill>
                  <a:srgbClr val="334155"/>
                </a:solidFill>
                <a:latin typeface="Segoe UI"/>
              </a:rPr>
              <a:t>• Up to 34x Speedup: Over embedded CPUs and DPU SmartNICs, scaling linearly with core count.
• At least 356x Faster than GPUs: Eliminates thread serialization caused by warp divergence.
• 17x to 57x Energy Gain: Consumes a fraction of the power of Xeon servers and DPUs.
• Zero State Explosion: Compiles rulesets instantly without memory explosion.</a:t>
            </a:r>
          </a:p>
        </p:txBody>
      </p:sp>
      <p:sp>
        <p:nvSpPr>
          <p:cNvPr id="10" name="Rounded Rectangle 9"/>
          <p:cNvSpPr/>
          <p:nvPr/>
        </p:nvSpPr>
        <p:spPr>
          <a:xfrm>
            <a:off x="6227064" y="3977639"/>
            <a:ext cx="5230368" cy="2240280"/>
          </a:xfrm>
          <a:prstGeom prst="roundRect">
            <a:avLst/>
          </a:prstGeom>
          <a:solidFill>
            <a:srgbClr val="F1F5F9"/>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55664" y="4069080"/>
            <a:ext cx="4754880" cy="2057400"/>
          </a:xfrm>
          <a:prstGeom prst="rect">
            <a:avLst/>
          </a:prstGeom>
          <a:noFill/>
        </p:spPr>
        <p:txBody>
          <a:bodyPr wrap="square" lIns="0" tIns="0" rIns="0" bIns="0">
            <a:spAutoFit/>
          </a:bodyPr>
          <a:lstStyle/>
          <a:p>
            <a:pPr algn="l">
              <a:spcAft>
                <a:spcPts val="400"/>
              </a:spcAft>
            </a:pPr>
            <a:r>
              <a:rPr sz="1250" b="1">
                <a:solidFill>
                  <a:srgbClr val="0F172A"/>
                </a:solidFill>
                <a:latin typeface="Segoe UI"/>
              </a:rPr>
              <a:t>Identified Architectural Limitations:</a:t>
            </a:r>
          </a:p>
          <a:p>
            <a:pPr algn="l"/>
            <a:r>
              <a:rPr sz="1000" b="0">
                <a:solidFill>
                  <a:srgbClr val="334155"/>
                </a:solidFill>
                <a:latin typeface="Segoe UI"/>
              </a:rPr>
              <a:t>• Hardware Boundaries: Reference holds a maximum of four 8-bit characters; repetition counters limited to 0–62.
• Deep Rulesets: Huge rulesets require time-multiplexing across FPGA reconfiguration.
• Single Comparator Active: Only one comparator active after partial match.
• ReDoS Vulnerability: Pathological nested expressions can trigger algorithmic backtracking collapse without compiler guardrails.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Conclusion and key takeaway</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What should the audience remember about the ALVEARE framework?</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10</a:t>
            </a:r>
          </a:p>
        </p:txBody>
      </p:sp>
      <p:sp>
        <p:nvSpPr>
          <p:cNvPr id="7" name="Rounded Rectangle 6"/>
          <p:cNvSpPr/>
          <p:nvPr/>
        </p:nvSpPr>
        <p:spPr>
          <a:xfrm>
            <a:off x="731520" y="1371600"/>
            <a:ext cx="3328416"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536192"/>
            <a:ext cx="2871216" cy="2468880"/>
          </a:xfrm>
          <a:prstGeom prst="rect">
            <a:avLst/>
          </a:prstGeom>
          <a:noFill/>
        </p:spPr>
        <p:txBody>
          <a:bodyPr wrap="square" lIns="0" tIns="0" rIns="0" bIns="0">
            <a:spAutoFit/>
          </a:bodyPr>
          <a:lstStyle/>
          <a:p>
            <a:pPr algn="l">
              <a:spcAft>
                <a:spcPts val="600"/>
              </a:spcAft>
            </a:pPr>
            <a:r>
              <a:rPr sz="1500" b="1">
                <a:solidFill>
                  <a:srgbClr val="0F172A"/>
                </a:solidFill>
                <a:latin typeface="Segoe UI"/>
              </a:rPr>
              <a:t>Research Contribution</a:t>
            </a:r>
          </a:p>
          <a:p>
            <a:pPr algn="l"/>
            <a:r>
              <a:rPr sz="1000" b="0">
                <a:solidFill>
                  <a:srgbClr val="334155"/>
                </a:solidFill>
                <a:latin typeface="Segoe UI"/>
              </a:rPr>
              <a:t>• Proposed the first full-stack domain-specific framework for regular expressions.
• Introduced a tailored 43-bit RISC ISA supporting base and complex operators.
• Implemented a speculative microarchitecture with on-chip stack.
• Built an ad-hoc linear-time optimizing compiler in C.</a:t>
            </a:r>
          </a:p>
        </p:txBody>
      </p:sp>
      <p:sp>
        <p:nvSpPr>
          <p:cNvPr id="9" name="Rounded Rectangle 8"/>
          <p:cNvSpPr/>
          <p:nvPr/>
        </p:nvSpPr>
        <p:spPr>
          <a:xfrm>
            <a:off x="4425696" y="1371600"/>
            <a:ext cx="3328416"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654296" y="1536192"/>
            <a:ext cx="2871216" cy="2468880"/>
          </a:xfrm>
          <a:prstGeom prst="rect">
            <a:avLst/>
          </a:prstGeom>
          <a:noFill/>
        </p:spPr>
        <p:txBody>
          <a:bodyPr wrap="square" lIns="0" tIns="0" rIns="0" bIns="0">
            <a:spAutoFit/>
          </a:bodyPr>
          <a:lstStyle/>
          <a:p>
            <a:pPr algn="l">
              <a:spcAft>
                <a:spcPts val="600"/>
              </a:spcAft>
            </a:pPr>
            <a:r>
              <a:rPr sz="1500" b="1">
                <a:solidFill>
                  <a:srgbClr val="0F172A"/>
                </a:solidFill>
                <a:latin typeface="Segoe UI"/>
              </a:rPr>
              <a:t>Practical Value</a:t>
            </a:r>
          </a:p>
          <a:p>
            <a:pPr algn="l"/>
            <a:r>
              <a:rPr sz="1000" b="0">
                <a:solidFill>
                  <a:srgbClr val="334155"/>
                </a:solidFill>
                <a:latin typeface="Segoe UI"/>
              </a:rPr>
              <a:t>• Resolves the dilemma between software flexibility and ASIC rigidity.
• Delivers up to 34x speedup and 57x energy savings over CPU/DPU engines.
• Unlocks line-rate deep packet inspection (Snort) and genomics at low power.
• Linear O(N) compile time eliminates DFA memory blowup.</a:t>
            </a:r>
          </a:p>
        </p:txBody>
      </p:sp>
      <p:sp>
        <p:nvSpPr>
          <p:cNvPr id="11" name="Rounded Rectangle 10"/>
          <p:cNvSpPr/>
          <p:nvPr/>
        </p:nvSpPr>
        <p:spPr>
          <a:xfrm>
            <a:off x="8119872" y="1371600"/>
            <a:ext cx="3328416" cy="274320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348472" y="1536192"/>
            <a:ext cx="2871216" cy="2468880"/>
          </a:xfrm>
          <a:prstGeom prst="rect">
            <a:avLst/>
          </a:prstGeom>
          <a:noFill/>
        </p:spPr>
        <p:txBody>
          <a:bodyPr wrap="square" lIns="0" tIns="0" rIns="0" bIns="0">
            <a:spAutoFit/>
          </a:bodyPr>
          <a:lstStyle/>
          <a:p>
            <a:pPr algn="l">
              <a:spcAft>
                <a:spcPts val="600"/>
              </a:spcAft>
            </a:pPr>
            <a:r>
              <a:rPr sz="1500" b="1">
                <a:solidFill>
                  <a:srgbClr val="0F172A"/>
                </a:solidFill>
                <a:latin typeface="Segoe UI"/>
              </a:rPr>
              <a:t>Critical Limitations</a:t>
            </a:r>
          </a:p>
          <a:p>
            <a:pPr algn="l"/>
            <a:r>
              <a:rPr sz="1000" b="0">
                <a:solidFill>
                  <a:srgbClr val="334155"/>
                </a:solidFill>
                <a:latin typeface="Segoe UI"/>
              </a:rPr>
              <a:t>• Reference width fixed at four 8-bit characters; counters capped at 0–62.
• Very large rulesets require dynamic FPGA time-multiplexing.
• Susceptible to algorithmic ReDoS if expressions have catastrophic nested quantifiers.
• Future work: wider counters and compiler-level ReDoS guardrails.</a:t>
            </a:r>
          </a:p>
        </p:txBody>
      </p:sp>
      <p:sp>
        <p:nvSpPr>
          <p:cNvPr id="13" name="Rounded Rectangle 12"/>
          <p:cNvSpPr/>
          <p:nvPr/>
        </p:nvSpPr>
        <p:spPr>
          <a:xfrm>
            <a:off x="731520" y="4343400"/>
            <a:ext cx="10725912" cy="118872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462272"/>
            <a:ext cx="10268712" cy="960120"/>
          </a:xfrm>
          <a:prstGeom prst="rect">
            <a:avLst/>
          </a:prstGeom>
          <a:noFill/>
        </p:spPr>
        <p:txBody>
          <a:bodyPr wrap="square" lIns="0" tIns="0" rIns="0" bIns="0">
            <a:spAutoFit/>
          </a:bodyPr>
          <a:lstStyle/>
          <a:p>
            <a:pPr algn="l">
              <a:spcAft>
                <a:spcPts val="400"/>
              </a:spcAft>
            </a:pPr>
            <a:r>
              <a:rPr sz="1150" b="1">
                <a:solidFill>
                  <a:srgbClr val="0F172A"/>
                </a:solidFill>
                <a:latin typeface="Segoe UI"/>
              </a:rPr>
              <a:t>One-Sentence Summary:</a:t>
            </a:r>
          </a:p>
          <a:p>
            <a:pPr algn="l"/>
            <a:r>
              <a:rPr sz="1100" b="0">
                <a:solidFill>
                  <a:srgbClr val="334155"/>
                </a:solidFill>
                <a:latin typeface="Segoe UI"/>
              </a:rPr>
              <a:t>ALVEARE proves that treating Regular Expressions as a domain-specific language paired with a custom 43-bit RISC ISA, a speculative microarchitecture, and an optimizing compiler delivers line-rate matching and up to 57x energy efficiency without sacrificing operator flexibility.</a:t>
            </a:r>
          </a:p>
        </p:txBody>
      </p:sp>
      <p:sp>
        <p:nvSpPr>
          <p:cNvPr id="15" name="TextBox 14"/>
          <p:cNvSpPr txBox="1"/>
          <p:nvPr/>
        </p:nvSpPr>
        <p:spPr>
          <a:xfrm>
            <a:off x="731520" y="5715000"/>
            <a:ext cx="10725912" cy="365760"/>
          </a:xfrm>
          <a:prstGeom prst="rect">
            <a:avLst/>
          </a:prstGeom>
          <a:noFill/>
        </p:spPr>
        <p:txBody>
          <a:bodyPr wrap="square" lIns="0" tIns="0" rIns="0" bIns="0">
            <a:spAutoFit/>
          </a:bodyPr>
          <a:lstStyle/>
          <a:p>
            <a:pPr algn="l"/>
            <a:r>
              <a:rPr sz="950" b="0">
                <a:solidFill>
                  <a:srgbClr val="64748B"/>
                </a:solidFill>
                <a:latin typeface="Segoe UI"/>
              </a:rPr>
              <a:t>Source: Carloni et al., "ALVEARE: A Full-Stack Domain-Specific Framework for Regular Expressions", IEEE Transactions on Computer-Aided Design (TCAD).</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10725912" cy="502920"/>
          </a:xfrm>
          <a:prstGeom prst="rect">
            <a:avLst/>
          </a:prstGeom>
          <a:noFill/>
        </p:spPr>
        <p:txBody>
          <a:bodyPr wrap="square" lIns="0" tIns="0" rIns="0" bIns="0">
            <a:spAutoFit/>
          </a:bodyPr>
          <a:lstStyle/>
          <a:p>
            <a:pPr algn="l"/>
            <a:r>
              <a:rPr sz="2200" b="1">
                <a:solidFill>
                  <a:srgbClr val="0F172A"/>
                </a:solidFill>
                <a:latin typeface="Segoe UI"/>
              </a:rPr>
              <a:t>Quick explanation / speaker notes</a:t>
            </a:r>
          </a:p>
        </p:txBody>
      </p:sp>
      <p:sp>
        <p:nvSpPr>
          <p:cNvPr id="4" name="TextBox 3"/>
          <p:cNvSpPr txBox="1"/>
          <p:nvPr/>
        </p:nvSpPr>
        <p:spPr>
          <a:xfrm>
            <a:off x="731520" y="896112"/>
            <a:ext cx="10725912" cy="320040"/>
          </a:xfrm>
          <a:prstGeom prst="rect">
            <a:avLst/>
          </a:prstGeom>
          <a:noFill/>
        </p:spPr>
        <p:txBody>
          <a:bodyPr wrap="square" lIns="0" tIns="0" rIns="0" bIns="0">
            <a:spAutoFit/>
          </a:bodyPr>
          <a:lstStyle/>
          <a:p>
            <a:pPr algn="l"/>
            <a:r>
              <a:rPr sz="1300" b="0">
                <a:solidFill>
                  <a:srgbClr val="64748B"/>
                </a:solidFill>
                <a:latin typeface="Segoe UI"/>
              </a:rPr>
              <a:t>Use these concise explanations and talking points while delivering your presentation.</a:t>
            </a:r>
          </a:p>
        </p:txBody>
      </p:sp>
      <p:sp>
        <p:nvSpPr>
          <p:cNvPr id="5" name="TextBox 4"/>
          <p:cNvSpPr txBox="1"/>
          <p:nvPr/>
        </p:nvSpPr>
        <p:spPr>
          <a:xfrm>
            <a:off x="731520" y="6446520"/>
            <a:ext cx="9601200" cy="274320"/>
          </a:xfrm>
          <a:prstGeom prst="rect">
            <a:avLst/>
          </a:prstGeom>
          <a:noFill/>
        </p:spPr>
        <p:txBody>
          <a:bodyPr wrap="none" lIns="0" tIns="0" rIns="0" bIns="0">
            <a:spAutoFit/>
          </a:bodyPr>
          <a:lstStyle/>
          <a:p>
            <a:pPr algn="l"/>
            <a:r>
              <a:rPr sz="950" b="0">
                <a:solidFill>
                  <a:srgbClr val="64748B"/>
                </a:solidFill>
                <a:latin typeface="Segoe UI"/>
              </a:rPr>
              <a:t>Research paper analysis • ALVEARE: A Full-Stack Domain-Specific Framework for Regular Expressions</a:t>
            </a:r>
          </a:p>
        </p:txBody>
      </p:sp>
      <p:sp>
        <p:nvSpPr>
          <p:cNvPr id="6" name="TextBox 5"/>
          <p:cNvSpPr txBox="1"/>
          <p:nvPr/>
        </p:nvSpPr>
        <p:spPr>
          <a:xfrm>
            <a:off x="10972800" y="6446520"/>
            <a:ext cx="457200" cy="274320"/>
          </a:xfrm>
          <a:prstGeom prst="rect">
            <a:avLst/>
          </a:prstGeom>
          <a:noFill/>
        </p:spPr>
        <p:txBody>
          <a:bodyPr wrap="none" lIns="0" tIns="0" rIns="0" bIns="0">
            <a:spAutoFit/>
          </a:bodyPr>
          <a:lstStyle/>
          <a:p>
            <a:pPr algn="r"/>
            <a:r>
              <a:rPr sz="1000" b="1">
                <a:solidFill>
                  <a:srgbClr val="64748B"/>
                </a:solidFill>
                <a:latin typeface="Segoe UI"/>
              </a:rPr>
              <a:t>11</a:t>
            </a:r>
          </a:p>
        </p:txBody>
      </p:sp>
      <p:sp>
        <p:nvSpPr>
          <p:cNvPr id="7" name="Rounded Rectangle 6"/>
          <p:cNvSpPr/>
          <p:nvPr/>
        </p:nvSpPr>
        <p:spPr>
          <a:xfrm>
            <a:off x="731520" y="1325880"/>
            <a:ext cx="10725912"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960120" y="1435608"/>
            <a:ext cx="10268712" cy="777240"/>
          </a:xfrm>
          <a:prstGeom prst="rect">
            <a:avLst/>
          </a:prstGeom>
          <a:noFill/>
        </p:spPr>
        <p:txBody>
          <a:bodyPr wrap="square" lIns="0" tIns="0" rIns="0" bIns="0">
            <a:spAutoFit/>
          </a:bodyPr>
          <a:lstStyle/>
          <a:p>
            <a:pPr algn="l">
              <a:spcAft>
                <a:spcPts val="300"/>
              </a:spcAft>
            </a:pPr>
            <a:r>
              <a:rPr sz="1250" b="1">
                <a:solidFill>
                  <a:srgbClr val="1D4ED8"/>
                </a:solidFill>
                <a:latin typeface="Segoe UI"/>
              </a:rPr>
              <a:t>What is a Domain-Specific Architecture (DSA) in this context?</a:t>
            </a:r>
          </a:p>
          <a:p>
            <a:pPr algn="l"/>
            <a:r>
              <a:rPr sz="1050" b="0">
                <a:solidFill>
                  <a:srgbClr val="334155"/>
                </a:solidFill>
                <a:latin typeface="Segoe UI"/>
              </a:rPr>
              <a:t>A DSA is hardware customized specifically for a narrow domain—in this case, regular expression primitives (character classes, ranges, repetition counters) rather than general-purpose math. It avoids instruction decoding overhead and directly evaluates regex tokens in silicon.</a:t>
            </a:r>
          </a:p>
        </p:txBody>
      </p:sp>
      <p:sp>
        <p:nvSpPr>
          <p:cNvPr id="9" name="Rounded Rectangle 8"/>
          <p:cNvSpPr/>
          <p:nvPr/>
        </p:nvSpPr>
        <p:spPr>
          <a:xfrm>
            <a:off x="731520" y="2377440"/>
            <a:ext cx="10725912"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60120" y="2487168"/>
            <a:ext cx="10268712" cy="777240"/>
          </a:xfrm>
          <a:prstGeom prst="rect">
            <a:avLst/>
          </a:prstGeom>
          <a:noFill/>
        </p:spPr>
        <p:txBody>
          <a:bodyPr wrap="square" lIns="0" tIns="0" rIns="0" bIns="0">
            <a:spAutoFit/>
          </a:bodyPr>
          <a:lstStyle/>
          <a:p>
            <a:pPr algn="l">
              <a:spcAft>
                <a:spcPts val="300"/>
              </a:spcAft>
            </a:pPr>
            <a:r>
              <a:rPr sz="1250" b="1">
                <a:solidFill>
                  <a:srgbClr val="1D4ED8"/>
                </a:solidFill>
                <a:latin typeface="Segoe UI"/>
              </a:rPr>
              <a:t>Why do CPUs and GPUs struggle with regular expression matching?</a:t>
            </a:r>
          </a:p>
          <a:p>
            <a:pPr algn="l"/>
            <a:r>
              <a:rPr sz="1050" b="0">
                <a:solidFill>
                  <a:srgbClr val="334155"/>
                </a:solidFill>
                <a:latin typeface="Segoe UI"/>
              </a:rPr>
              <a:t>Regular expressions contain non-deterministic branches (greedy quantifiers, alternations). When a match fails, the engine must backtrack. On GPUs, this creates severe thread warp divergence where parallel lanes serialize. On CPUs, it causes cache thrashing and branch mispredictions.</a:t>
            </a:r>
          </a:p>
        </p:txBody>
      </p:sp>
      <p:sp>
        <p:nvSpPr>
          <p:cNvPr id="11" name="Rounded Rectangle 10"/>
          <p:cNvSpPr/>
          <p:nvPr/>
        </p:nvSpPr>
        <p:spPr>
          <a:xfrm>
            <a:off x="731520" y="3429000"/>
            <a:ext cx="10725912"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960120" y="3538728"/>
            <a:ext cx="10268712" cy="777240"/>
          </a:xfrm>
          <a:prstGeom prst="rect">
            <a:avLst/>
          </a:prstGeom>
          <a:noFill/>
        </p:spPr>
        <p:txBody>
          <a:bodyPr wrap="square" lIns="0" tIns="0" rIns="0" bIns="0">
            <a:spAutoFit/>
          </a:bodyPr>
          <a:lstStyle/>
          <a:p>
            <a:pPr algn="l">
              <a:spcAft>
                <a:spcPts val="300"/>
              </a:spcAft>
            </a:pPr>
            <a:r>
              <a:rPr sz="1250" b="1">
                <a:solidFill>
                  <a:srgbClr val="1D4ED8"/>
                </a:solidFill>
                <a:latin typeface="Segoe UI"/>
              </a:rPr>
              <a:t>How does ALVEARE's speculative microarchitecture avoid performance collapse?</a:t>
            </a:r>
          </a:p>
          <a:p>
            <a:pPr algn="l"/>
            <a:r>
              <a:rPr sz="1050" b="0">
                <a:solidFill>
                  <a:srgbClr val="334155"/>
                </a:solidFill>
                <a:latin typeface="Segoe UI"/>
              </a:rPr>
              <a:t>ALVEARE speculates that greedy paths succeed while pushing alternative checkpoints onto an on-chip Speculation Stack. If a character mismatch occurs, the controller pops the previous state in a single clock cycle, avoiding costly software interrupt routines or DFA state explosions.</a:t>
            </a:r>
          </a:p>
        </p:txBody>
      </p:sp>
      <p:sp>
        <p:nvSpPr>
          <p:cNvPr id="13" name="Rounded Rectangle 12"/>
          <p:cNvSpPr/>
          <p:nvPr/>
        </p:nvSpPr>
        <p:spPr>
          <a:xfrm>
            <a:off x="731520" y="4480560"/>
            <a:ext cx="10725912" cy="960120"/>
          </a:xfrm>
          <a:prstGeom prst="roundRect">
            <a:avLst/>
          </a:prstGeom>
          <a:solidFill>
            <a:srgbClr val="FFFFFF"/>
          </a:solidFill>
          <a:ln w="12700">
            <a:solidFill>
              <a:srgbClr val="E2E8F0"/>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60120" y="4590288"/>
            <a:ext cx="10268712" cy="777240"/>
          </a:xfrm>
          <a:prstGeom prst="rect">
            <a:avLst/>
          </a:prstGeom>
          <a:noFill/>
        </p:spPr>
        <p:txBody>
          <a:bodyPr wrap="square" lIns="0" tIns="0" rIns="0" bIns="0">
            <a:spAutoFit/>
          </a:bodyPr>
          <a:lstStyle/>
          <a:p>
            <a:pPr algn="l">
              <a:spcAft>
                <a:spcPts val="300"/>
              </a:spcAft>
            </a:pPr>
            <a:r>
              <a:rPr sz="1250" b="1">
                <a:solidFill>
                  <a:srgbClr val="1D4ED8"/>
                </a:solidFill>
                <a:latin typeface="Segoe UI"/>
              </a:rPr>
              <a:t>Why does lifting complexity to the compiler help the hardware?</a:t>
            </a:r>
          </a:p>
          <a:p>
            <a:pPr algn="l"/>
            <a:r>
              <a:rPr sz="1050" b="0">
                <a:solidFill>
                  <a:srgbClr val="334155"/>
                </a:solidFill>
                <a:latin typeface="Segoe UI"/>
              </a:rPr>
              <a:t>Compilers can analyze ASTs, merge character ranges, and eliminate dead branches ahead of time in software. This keeps the hardware core tiny (fitting up to 10+ cores on a budget FPGA) and allows compilation in linear time O(N), unlike DFAs which experience exponential graph explosions.</a:t>
            </a:r>
          </a:p>
        </p:txBody>
      </p:sp>
      <p:sp>
        <p:nvSpPr>
          <p:cNvPr id="15" name="Rounded Rectangle 14"/>
          <p:cNvSpPr/>
          <p:nvPr/>
        </p:nvSpPr>
        <p:spPr>
          <a:xfrm>
            <a:off x="731520" y="5623560"/>
            <a:ext cx="10725912" cy="685800"/>
          </a:xfrm>
          <a:prstGeom prst="roundRect">
            <a:avLst/>
          </a:prstGeom>
          <a:solidFill>
            <a:srgbClr val="EEF2FF"/>
          </a:solidFill>
          <a:ln w="12700">
            <a:solidFill>
              <a:srgbClr val="C7D2FE"/>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60120" y="5715000"/>
            <a:ext cx="10268712" cy="502920"/>
          </a:xfrm>
          <a:prstGeom prst="rect">
            <a:avLst/>
          </a:prstGeom>
          <a:noFill/>
        </p:spPr>
        <p:txBody>
          <a:bodyPr wrap="square" lIns="0" tIns="0" rIns="0" bIns="0">
            <a:spAutoFit/>
          </a:bodyPr>
          <a:lstStyle/>
          <a:p>
            <a:pPr algn="l">
              <a:spcAft>
                <a:spcPts val="200"/>
              </a:spcAft>
            </a:pPr>
            <a:r>
              <a:rPr sz="1100" b="1">
                <a:solidFill>
                  <a:srgbClr val="0F172A"/>
                </a:solidFill>
                <a:latin typeface="Segoe UI"/>
              </a:rPr>
              <a:t>Suggested Closing Remark:</a:t>
            </a:r>
          </a:p>
          <a:p>
            <a:pPr algn="l"/>
            <a:r>
              <a:rPr sz="1050" b="0">
                <a:solidFill>
                  <a:srgbClr val="334155"/>
                </a:solidFill>
                <a:latin typeface="Segoe UI"/>
              </a:rPr>
              <a:t>"ALVEARE demonstrates that by treating regular expressions as a domain-specific programming language, we can achieve custom-silicon speeds and up to 57x energy efficiency while retaining the rich operator expressiveness required by modern cybersecurity and bioinformatics."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